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91" r:id="rId5"/>
    <p:sldId id="258" r:id="rId6"/>
    <p:sldId id="292" r:id="rId7"/>
    <p:sldId id="259" r:id="rId8"/>
    <p:sldId id="260" r:id="rId9"/>
    <p:sldId id="261" r:id="rId10"/>
    <p:sldId id="293" r:id="rId11"/>
    <p:sldId id="262" r:id="rId12"/>
    <p:sldId id="264" r:id="rId13"/>
    <p:sldId id="265" r:id="rId14"/>
    <p:sldId id="279" r:id="rId15"/>
    <p:sldId id="266" r:id="rId16"/>
    <p:sldId id="267" r:id="rId17"/>
    <p:sldId id="268" r:id="rId18"/>
    <p:sldId id="269" r:id="rId19"/>
    <p:sldId id="294" r:id="rId20"/>
    <p:sldId id="270" r:id="rId21"/>
    <p:sldId id="295" r:id="rId22"/>
    <p:sldId id="272" r:id="rId23"/>
    <p:sldId id="296" r:id="rId24"/>
    <p:sldId id="273" r:id="rId25"/>
    <p:sldId id="274" r:id="rId26"/>
    <p:sldId id="276" r:id="rId27"/>
    <p:sldId id="278" r:id="rId28"/>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78" d="100"/>
          <a:sy n="78" d="100"/>
        </p:scale>
        <p:origin x="-1536" y="-8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1" Type="http://schemas.openxmlformats.org/officeDocument/2006/relationships/tableStyles" Target="tableStyles.xml"/><Relationship Id="rId30" Type="http://schemas.openxmlformats.org/officeDocument/2006/relationships/viewProps" Target="viewProps.xml"/><Relationship Id="rId3" Type="http://schemas.openxmlformats.org/officeDocument/2006/relationships/slide" Target="slides/slide1.xml"/><Relationship Id="rId29" Type="http://schemas.openxmlformats.org/officeDocument/2006/relationships/presProps" Target="presProps.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4400" b="0" i="0">
                <a:solidFill>
                  <a:schemeClr val="tx1"/>
                </a:solidFill>
                <a:latin typeface="Calibri Light" panose="020F0302020204030204"/>
                <a:cs typeface="Calibri Light" panose="020F0302020204030204"/>
              </a:defRPr>
            </a:lvl1pPr>
          </a:lstStyle>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1800" b="0" i="0">
                <a:solidFill>
                  <a:schemeClr val="tx1"/>
                </a:solidFill>
                <a:latin typeface="Calibri" panose="020F0502020204030204"/>
                <a:cs typeface="Calibri" panose="020F0502020204030204"/>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Calibri Light" panose="020F0302020204030204"/>
                <a:cs typeface="Calibri Light" panose="020F0302020204030204"/>
              </a:defRPr>
            </a:lvl1pPr>
          </a:lstStyle>
          <a:p/>
        </p:txBody>
      </p:sp>
      <p:sp>
        <p:nvSpPr>
          <p:cNvPr id="3" name="Holder 3"/>
          <p:cNvSpPr>
            <a:spLocks noGrp="1"/>
          </p:cNvSpPr>
          <p:nvPr>
            <p:ph type="body" idx="1"/>
          </p:nvPr>
        </p:nvSpPr>
        <p:spPr/>
        <p:txBody>
          <a:bodyPr lIns="0" tIns="0" rIns="0" bIns="0"/>
          <a:lstStyle>
            <a:lvl1pPr>
              <a:defRPr sz="1800" b="0" i="0">
                <a:solidFill>
                  <a:schemeClr val="tx1"/>
                </a:solidFill>
                <a:latin typeface="Calibri" panose="020F0502020204030204"/>
                <a:cs typeface="Calibri" panose="020F0502020204030204"/>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Calibri Light" panose="020F0302020204030204"/>
                <a:cs typeface="Calibri Light" panose="020F0302020204030204"/>
              </a:defRPr>
            </a:lvl1pPr>
          </a:lstStyle>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Calibri Light" panose="020F0302020204030204"/>
                <a:cs typeface="Calibri Light" panose="020F0302020204030204"/>
              </a:defRPr>
            </a:lvl1pPr>
          </a:lstStyle>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theme" Target="../theme/theme1.xml"/><Relationship Id="rId6" Type="http://schemas.openxmlformats.org/officeDocument/2006/relationships/image" Target="../media/image1.jpeg"/><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6" cstate="print"/>
          <a:stretch>
            <a:fillRect/>
          </a:stretch>
        </p:blipFill>
        <p:spPr>
          <a:xfrm>
            <a:off x="0" y="5852159"/>
            <a:ext cx="12192000" cy="1005840"/>
          </a:xfrm>
          <a:prstGeom prst="rect">
            <a:avLst/>
          </a:prstGeom>
        </p:spPr>
      </p:pic>
      <p:sp>
        <p:nvSpPr>
          <p:cNvPr id="2" name="Holder 2"/>
          <p:cNvSpPr>
            <a:spLocks noGrp="1"/>
          </p:cNvSpPr>
          <p:nvPr>
            <p:ph type="title"/>
          </p:nvPr>
        </p:nvSpPr>
        <p:spPr>
          <a:xfrm>
            <a:off x="837564" y="230505"/>
            <a:ext cx="10516870" cy="697230"/>
          </a:xfrm>
          <a:prstGeom prst="rect">
            <a:avLst/>
          </a:prstGeom>
        </p:spPr>
        <p:txBody>
          <a:bodyPr wrap="square" lIns="0" tIns="0" rIns="0" bIns="0">
            <a:spAutoFit/>
          </a:bodyPr>
          <a:lstStyle>
            <a:lvl1pPr>
              <a:defRPr sz="4400" b="0" i="0">
                <a:solidFill>
                  <a:schemeClr val="tx1"/>
                </a:solidFill>
                <a:latin typeface="Calibri Light" panose="020F0302020204030204"/>
                <a:cs typeface="Calibri Light" panose="020F0302020204030204"/>
              </a:defRPr>
            </a:lvl1pPr>
          </a:lstStyle>
          <a:p/>
        </p:txBody>
      </p:sp>
      <p:sp>
        <p:nvSpPr>
          <p:cNvPr id="3" name="Holder 3"/>
          <p:cNvSpPr>
            <a:spLocks noGrp="1"/>
          </p:cNvSpPr>
          <p:nvPr>
            <p:ph type="body" idx="1"/>
          </p:nvPr>
        </p:nvSpPr>
        <p:spPr>
          <a:xfrm>
            <a:off x="342900" y="1396365"/>
            <a:ext cx="11483975" cy="3591560"/>
          </a:xfrm>
          <a:prstGeom prst="rect">
            <a:avLst/>
          </a:prstGeom>
        </p:spPr>
        <p:txBody>
          <a:bodyPr wrap="square" lIns="0" tIns="0" rIns="0" bIns="0">
            <a:spAutoFit/>
          </a:bodyPr>
          <a:lstStyle>
            <a:lvl1pPr>
              <a:defRPr sz="1800" b="0" i="0">
                <a:solidFill>
                  <a:schemeClr val="tx1"/>
                </a:solidFill>
                <a:latin typeface="Calibri" panose="020F0502020204030204"/>
                <a:cs typeface="Calibri" panose="020F0502020204030204"/>
              </a:defRPr>
            </a:lvl1pPr>
          </a:lstStyle>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28239" y="354965"/>
            <a:ext cx="7404100" cy="444500"/>
          </a:xfrm>
          <a:prstGeom prst="rect">
            <a:avLst/>
          </a:prstGeom>
        </p:spPr>
        <p:txBody>
          <a:bodyPr vert="horz" wrap="square" lIns="0" tIns="12700" rIns="0" bIns="0" rtlCol="0">
            <a:spAutoFit/>
          </a:bodyPr>
          <a:lstStyle/>
          <a:p>
            <a:pPr marL="12700">
              <a:lnSpc>
                <a:spcPct val="100000"/>
              </a:lnSpc>
              <a:spcBef>
                <a:spcPts val="100"/>
              </a:spcBef>
            </a:pPr>
            <a:r>
              <a:rPr sz="2750" b="1" dirty="0">
                <a:latin typeface="Verdana" panose="020B0604030504040204"/>
                <a:cs typeface="Verdana" panose="020B0604030504040204"/>
              </a:rPr>
              <a:t>PIP104</a:t>
            </a:r>
            <a:r>
              <a:rPr sz="2750" b="1" spc="360" dirty="0">
                <a:latin typeface="Verdana" panose="020B0604030504040204"/>
                <a:cs typeface="Verdana" panose="020B0604030504040204"/>
              </a:rPr>
              <a:t> </a:t>
            </a:r>
            <a:r>
              <a:rPr sz="2750" b="1" dirty="0">
                <a:latin typeface="Verdana" panose="020B0604030504040204"/>
                <a:cs typeface="Verdana" panose="020B0604030504040204"/>
              </a:rPr>
              <a:t>PROFESSIONAL</a:t>
            </a:r>
            <a:r>
              <a:rPr sz="2750" b="1" spc="445" dirty="0">
                <a:latin typeface="Verdana" panose="020B0604030504040204"/>
                <a:cs typeface="Verdana" panose="020B0604030504040204"/>
              </a:rPr>
              <a:t> </a:t>
            </a:r>
            <a:r>
              <a:rPr sz="2750" b="1" spc="-10" dirty="0">
                <a:latin typeface="Verdana" panose="020B0604030504040204"/>
                <a:cs typeface="Verdana" panose="020B0604030504040204"/>
              </a:rPr>
              <a:t>PRACTICE-</a:t>
            </a:r>
            <a:r>
              <a:rPr sz="2750" b="1" spc="-25" dirty="0">
                <a:latin typeface="Verdana" panose="020B0604030504040204"/>
                <a:cs typeface="Verdana" panose="020B0604030504040204"/>
              </a:rPr>
              <a:t>II</a:t>
            </a:r>
            <a:endParaRPr sz="2750">
              <a:latin typeface="Verdana" panose="020B0604030504040204"/>
              <a:cs typeface="Verdana" panose="020B0604030504040204"/>
            </a:endParaRPr>
          </a:p>
        </p:txBody>
      </p:sp>
      <p:pic>
        <p:nvPicPr>
          <p:cNvPr id="3" name="object 3"/>
          <p:cNvPicPr/>
          <p:nvPr/>
        </p:nvPicPr>
        <p:blipFill>
          <a:blip r:embed="rId1" cstate="print"/>
          <a:stretch>
            <a:fillRect/>
          </a:stretch>
        </p:blipFill>
        <p:spPr>
          <a:xfrm>
            <a:off x="11958828" y="2321051"/>
            <a:ext cx="97535" cy="99060"/>
          </a:xfrm>
          <a:prstGeom prst="rect">
            <a:avLst/>
          </a:prstGeom>
        </p:spPr>
      </p:pic>
      <p:graphicFrame>
        <p:nvGraphicFramePr>
          <p:cNvPr id="4" name="object 4"/>
          <p:cNvGraphicFramePr>
            <a:graphicFrameLocks noGrp="1"/>
          </p:cNvGraphicFramePr>
          <p:nvPr/>
        </p:nvGraphicFramePr>
        <p:xfrm>
          <a:off x="618197" y="3261486"/>
          <a:ext cx="5506720" cy="1850390"/>
        </p:xfrm>
        <a:graphic>
          <a:graphicData uri="http://schemas.openxmlformats.org/drawingml/2006/table">
            <a:tbl>
              <a:tblPr firstRow="1" bandRow="1">
                <a:tableStyleId>{2D5ABB26-0587-4C30-8999-92F81FD0307C}</a:tableStyleId>
              </a:tblPr>
              <a:tblGrid>
                <a:gridCol w="2084705"/>
                <a:gridCol w="3333115"/>
              </a:tblGrid>
              <a:tr h="369570">
                <a:tc>
                  <a:txBody>
                    <a:bodyPr/>
                    <a:lstStyle/>
                    <a:p>
                      <a:pPr algn="ctr">
                        <a:lnSpc>
                          <a:spcPct val="100000"/>
                        </a:lnSpc>
                        <a:spcBef>
                          <a:spcPts val="280"/>
                        </a:spcBef>
                      </a:pPr>
                      <a:r>
                        <a:rPr sz="1800" b="1" spc="70" dirty="0">
                          <a:solidFill>
                            <a:srgbClr val="16375E"/>
                          </a:solidFill>
                          <a:latin typeface="Cambria" panose="02040503050406030204"/>
                          <a:cs typeface="Cambria" panose="02040503050406030204"/>
                        </a:rPr>
                        <a:t>Roll</a:t>
                      </a:r>
                      <a:r>
                        <a:rPr sz="1800" b="1" spc="320" dirty="0">
                          <a:solidFill>
                            <a:srgbClr val="16375E"/>
                          </a:solidFill>
                          <a:latin typeface="Cambria" panose="02040503050406030204"/>
                          <a:cs typeface="Cambria" panose="02040503050406030204"/>
                        </a:rPr>
                        <a:t> </a:t>
                      </a:r>
                      <a:r>
                        <a:rPr sz="1800" b="1" spc="40" dirty="0">
                          <a:solidFill>
                            <a:srgbClr val="16375E"/>
                          </a:solidFill>
                          <a:latin typeface="Cambria" panose="02040503050406030204"/>
                          <a:cs typeface="Cambria" panose="02040503050406030204"/>
                        </a:rPr>
                        <a:t>Number</a:t>
                      </a:r>
                      <a:endParaRPr sz="1800">
                        <a:latin typeface="Cambria" panose="02040503050406030204"/>
                        <a:cs typeface="Cambria" panose="02040503050406030204"/>
                      </a:endParaRPr>
                    </a:p>
                  </a:txBody>
                  <a:tcPr marL="0" marR="0" marT="355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80"/>
                        </a:spcBef>
                      </a:pPr>
                      <a:r>
                        <a:rPr sz="1800" b="1" spc="105" dirty="0">
                          <a:solidFill>
                            <a:srgbClr val="16375E"/>
                          </a:solidFill>
                          <a:latin typeface="Cambria" panose="02040503050406030204"/>
                          <a:cs typeface="Cambria" panose="02040503050406030204"/>
                        </a:rPr>
                        <a:t>Student</a:t>
                      </a:r>
                      <a:r>
                        <a:rPr sz="1800" b="1" spc="430" dirty="0">
                          <a:solidFill>
                            <a:srgbClr val="16375E"/>
                          </a:solidFill>
                          <a:latin typeface="Cambria" panose="02040503050406030204"/>
                          <a:cs typeface="Cambria" panose="02040503050406030204"/>
                        </a:rPr>
                        <a:t> </a:t>
                      </a:r>
                      <a:r>
                        <a:rPr sz="1800" b="1" spc="30" dirty="0">
                          <a:solidFill>
                            <a:srgbClr val="16375E"/>
                          </a:solidFill>
                          <a:latin typeface="Cambria" panose="02040503050406030204"/>
                          <a:cs typeface="Cambria" panose="02040503050406030204"/>
                        </a:rPr>
                        <a:t>Name</a:t>
                      </a:r>
                      <a:endParaRPr sz="1800">
                        <a:latin typeface="Cambria" panose="02040503050406030204"/>
                        <a:cs typeface="Cambria" panose="02040503050406030204"/>
                      </a:endParaRPr>
                    </a:p>
                  </a:txBody>
                  <a:tcPr marL="0" marR="0" marT="355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70840">
                <a:tc>
                  <a:txBody>
                    <a:bodyPr/>
                    <a:lstStyle/>
                    <a:p>
                      <a:pPr marR="6350" algn="ctr">
                        <a:lnSpc>
                          <a:spcPct val="100000"/>
                        </a:lnSpc>
                        <a:spcBef>
                          <a:spcPts val="260"/>
                        </a:spcBef>
                      </a:pPr>
                      <a:r>
                        <a:rPr sz="1800" spc="95" dirty="0">
                          <a:latin typeface="Georgia" panose="02040502050405020303"/>
                          <a:cs typeface="Georgia" panose="02040502050405020303"/>
                        </a:rPr>
                        <a:t>20211CSD</a:t>
                      </a:r>
                      <a:r>
                        <a:rPr lang="en-IN" sz="1800" spc="95" dirty="0">
                          <a:latin typeface="Georgia" panose="02040502050405020303"/>
                          <a:cs typeface="Georgia" panose="02040502050405020303"/>
                        </a:rPr>
                        <a:t>0147</a:t>
                      </a:r>
                      <a:endParaRPr lang="en-IN" sz="1800" spc="95" dirty="0">
                        <a:latin typeface="Georgia" panose="02040502050405020303"/>
                        <a:cs typeface="Georgia" panose="02040502050405020303"/>
                      </a:endParaRPr>
                    </a:p>
                  </a:txBody>
                  <a:tcPr marL="0" marR="0" marT="3301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260"/>
                        </a:spcBef>
                      </a:pPr>
                      <a:r>
                        <a:rPr lang="en-IN" sz="1800">
                          <a:latin typeface="Georgia" panose="02040502050405020303"/>
                          <a:cs typeface="Georgia" panose="02040502050405020303"/>
                        </a:rPr>
                        <a:t>SHASHANK J K</a:t>
                      </a:r>
                      <a:endParaRPr lang="en-IN" sz="1800">
                        <a:latin typeface="Georgia" panose="02040502050405020303"/>
                        <a:cs typeface="Georgia" panose="02040502050405020303"/>
                      </a:endParaRPr>
                    </a:p>
                  </a:txBody>
                  <a:tcPr marL="0" marR="0" marT="3301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69570">
                <a:tc>
                  <a:txBody>
                    <a:bodyPr/>
                    <a:lstStyle/>
                    <a:p>
                      <a:pPr algn="ctr">
                        <a:lnSpc>
                          <a:spcPct val="100000"/>
                        </a:lnSpc>
                        <a:spcBef>
                          <a:spcPts val="265"/>
                        </a:spcBef>
                      </a:pPr>
                      <a:r>
                        <a:rPr sz="1800" spc="85" dirty="0">
                          <a:latin typeface="Georgia" panose="02040502050405020303"/>
                          <a:cs typeface="Georgia" panose="02040502050405020303"/>
                        </a:rPr>
                        <a:t>20211CSD00</a:t>
                      </a:r>
                      <a:r>
                        <a:rPr lang="en-IN" sz="1800" spc="85" dirty="0">
                          <a:latin typeface="Georgia" panose="02040502050405020303"/>
                          <a:cs typeface="Georgia" panose="02040502050405020303"/>
                        </a:rPr>
                        <a:t>41</a:t>
                      </a:r>
                      <a:endParaRPr lang="en-IN" sz="1800" spc="85" dirty="0">
                        <a:latin typeface="Georgia" panose="02040502050405020303"/>
                        <a:cs typeface="Georgia" panose="02040502050405020303"/>
                      </a:endParaRPr>
                    </a:p>
                  </a:txBody>
                  <a:tcPr marL="0" marR="0" marT="336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7780" algn="ctr">
                        <a:lnSpc>
                          <a:spcPct val="100000"/>
                        </a:lnSpc>
                        <a:spcBef>
                          <a:spcPts val="265"/>
                        </a:spcBef>
                      </a:pPr>
                      <a:r>
                        <a:rPr lang="en-IN" sz="1800">
                          <a:latin typeface="Georgia" panose="02040502050405020303"/>
                          <a:cs typeface="Georgia" panose="02040502050405020303"/>
                        </a:rPr>
                        <a:t>PARTH</a:t>
                      </a:r>
                      <a:endParaRPr lang="en-IN" sz="1800">
                        <a:latin typeface="Georgia" panose="02040502050405020303"/>
                        <a:cs typeface="Georgia" panose="02040502050405020303"/>
                      </a:endParaRPr>
                    </a:p>
                  </a:txBody>
                  <a:tcPr marL="0" marR="0" marT="336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70205">
                <a:tc>
                  <a:txBody>
                    <a:bodyPr/>
                    <a:lstStyle/>
                    <a:p>
                      <a:pPr marR="2540" algn="ctr">
                        <a:lnSpc>
                          <a:spcPct val="100000"/>
                        </a:lnSpc>
                        <a:spcBef>
                          <a:spcPts val="270"/>
                        </a:spcBef>
                      </a:pPr>
                      <a:r>
                        <a:rPr sz="1800" spc="110" dirty="0">
                          <a:latin typeface="Georgia" panose="02040502050405020303"/>
                          <a:cs typeface="Georgia" panose="02040502050405020303"/>
                        </a:rPr>
                        <a:t>202</a:t>
                      </a:r>
                      <a:r>
                        <a:rPr lang="en-US" sz="1800" spc="110" dirty="0">
                          <a:latin typeface="Georgia" panose="02040502050405020303"/>
                          <a:cs typeface="Georgia" panose="02040502050405020303"/>
                        </a:rPr>
                        <a:t>2</a:t>
                      </a:r>
                      <a:r>
                        <a:rPr sz="1800" spc="110" dirty="0">
                          <a:latin typeface="Georgia" panose="02040502050405020303"/>
                          <a:cs typeface="Georgia" panose="02040502050405020303"/>
                        </a:rPr>
                        <a:t>1</a:t>
                      </a:r>
                      <a:r>
                        <a:rPr lang="en-US" sz="1800" spc="110" dirty="0">
                          <a:latin typeface="Georgia" panose="02040502050405020303"/>
                          <a:cs typeface="Georgia" panose="02040502050405020303"/>
                        </a:rPr>
                        <a:t>L</a:t>
                      </a:r>
                      <a:r>
                        <a:rPr sz="1800" spc="110" dirty="0">
                          <a:latin typeface="Georgia" panose="02040502050405020303"/>
                          <a:cs typeface="Georgia" panose="02040502050405020303"/>
                        </a:rPr>
                        <a:t>SD0</a:t>
                      </a:r>
                      <a:r>
                        <a:rPr lang="en-IN" sz="1800" spc="110" dirty="0">
                          <a:latin typeface="Georgia" panose="02040502050405020303"/>
                          <a:cs typeface="Georgia" panose="02040502050405020303"/>
                        </a:rPr>
                        <a:t>0</a:t>
                      </a:r>
                      <a:r>
                        <a:rPr lang="en-US" altLang="en-IN" sz="1800" spc="110" dirty="0">
                          <a:latin typeface="Georgia" panose="02040502050405020303"/>
                          <a:cs typeface="Georgia" panose="02040502050405020303"/>
                        </a:rPr>
                        <a:t>01</a:t>
                      </a:r>
                      <a:endParaRPr lang="en-US" altLang="en-IN" sz="1800" spc="110" dirty="0">
                        <a:latin typeface="Georgia" panose="02040502050405020303"/>
                        <a:cs typeface="Georgia" panose="02040502050405020303"/>
                      </a:endParaRPr>
                    </a:p>
                  </a:txBody>
                  <a:tcPr marL="0" marR="0" marT="342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3335" algn="ctr">
                        <a:lnSpc>
                          <a:spcPct val="100000"/>
                        </a:lnSpc>
                        <a:spcBef>
                          <a:spcPts val="270"/>
                        </a:spcBef>
                      </a:pPr>
                      <a:r>
                        <a:rPr lang="en-IN" sz="1800">
                          <a:latin typeface="Georgia" panose="02040502050405020303"/>
                          <a:cs typeface="Georgia" panose="02040502050405020303"/>
                        </a:rPr>
                        <a:t>SAGAR M</a:t>
                      </a:r>
                      <a:endParaRPr lang="en-IN" sz="1800">
                        <a:latin typeface="Georgia" panose="02040502050405020303"/>
                        <a:cs typeface="Georgia" panose="02040502050405020303"/>
                      </a:endParaRPr>
                    </a:p>
                  </a:txBody>
                  <a:tcPr marL="0" marR="0" marT="342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70205">
                <a:tc>
                  <a:txBody>
                    <a:bodyPr/>
                    <a:lstStyle/>
                    <a:p>
                      <a:pPr algn="ctr">
                        <a:lnSpc>
                          <a:spcPct val="100000"/>
                        </a:lnSpc>
                        <a:spcBef>
                          <a:spcPts val="270"/>
                        </a:spcBef>
                      </a:pPr>
                      <a:r>
                        <a:rPr sz="1800" spc="85" dirty="0">
                          <a:latin typeface="Georgia" panose="02040502050405020303"/>
                          <a:cs typeface="Georgia" panose="02040502050405020303"/>
                        </a:rPr>
                        <a:t>202</a:t>
                      </a:r>
                      <a:r>
                        <a:rPr lang="en-US" sz="1800" spc="85" dirty="0">
                          <a:latin typeface="Georgia" panose="02040502050405020303"/>
                          <a:cs typeface="Georgia" panose="02040502050405020303"/>
                        </a:rPr>
                        <a:t>2</a:t>
                      </a:r>
                      <a:r>
                        <a:rPr sz="1800" spc="85" dirty="0">
                          <a:latin typeface="Georgia" panose="02040502050405020303"/>
                          <a:cs typeface="Georgia" panose="02040502050405020303"/>
                        </a:rPr>
                        <a:t>1</a:t>
                      </a:r>
                      <a:r>
                        <a:rPr lang="en-US" sz="1800" spc="85" dirty="0">
                          <a:latin typeface="Georgia" panose="02040502050405020303"/>
                          <a:cs typeface="Georgia" panose="02040502050405020303"/>
                        </a:rPr>
                        <a:t>L</a:t>
                      </a:r>
                      <a:r>
                        <a:rPr sz="1800" spc="85" dirty="0">
                          <a:latin typeface="Georgia" panose="02040502050405020303"/>
                          <a:cs typeface="Georgia" panose="02040502050405020303"/>
                        </a:rPr>
                        <a:t>SD</a:t>
                      </a:r>
                      <a:r>
                        <a:rPr lang="en-US" sz="1800" spc="85" dirty="0">
                          <a:latin typeface="Georgia" panose="02040502050405020303"/>
                          <a:cs typeface="Georgia" panose="02040502050405020303"/>
                        </a:rPr>
                        <a:t>0</a:t>
                      </a:r>
                      <a:r>
                        <a:rPr sz="1800" spc="85" dirty="0">
                          <a:latin typeface="Georgia" panose="02040502050405020303"/>
                          <a:cs typeface="Georgia" panose="02040502050405020303"/>
                        </a:rPr>
                        <a:t>00</a:t>
                      </a:r>
                      <a:r>
                        <a:rPr lang="en-US" sz="1800" spc="85" dirty="0">
                          <a:latin typeface="Georgia" panose="02040502050405020303"/>
                          <a:cs typeface="Georgia" panose="02040502050405020303"/>
                        </a:rPr>
                        <a:t>3</a:t>
                      </a:r>
                      <a:endParaRPr lang="en-US" sz="1800" spc="85" dirty="0">
                        <a:latin typeface="Georgia" panose="02040502050405020303"/>
                        <a:cs typeface="Georgia" panose="02040502050405020303"/>
                      </a:endParaRPr>
                    </a:p>
                  </a:txBody>
                  <a:tcPr marL="0" marR="0" marT="342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080" algn="ctr">
                        <a:lnSpc>
                          <a:spcPct val="100000"/>
                        </a:lnSpc>
                        <a:spcBef>
                          <a:spcPts val="270"/>
                        </a:spcBef>
                      </a:pPr>
                      <a:r>
                        <a:rPr lang="en-IN" sz="1800" spc="100" dirty="0">
                          <a:latin typeface="Georgia" panose="02040502050405020303"/>
                          <a:cs typeface="Georgia" panose="02040502050405020303"/>
                        </a:rPr>
                        <a:t>TEJA REDDY</a:t>
                      </a:r>
                      <a:r>
                        <a:rPr sz="1800" spc="100" dirty="0">
                          <a:latin typeface="Georgia" panose="02040502050405020303"/>
                          <a:cs typeface="Georgia" panose="02040502050405020303"/>
                        </a:rPr>
                        <a:t> </a:t>
                      </a:r>
                      <a:r>
                        <a:rPr sz="1800" spc="-50" dirty="0">
                          <a:latin typeface="Georgia" panose="02040502050405020303"/>
                          <a:cs typeface="Georgia" panose="02040502050405020303"/>
                        </a:rPr>
                        <a:t>M</a:t>
                      </a:r>
                      <a:endParaRPr sz="1800">
                        <a:latin typeface="Georgia" panose="02040502050405020303"/>
                        <a:cs typeface="Georgia" panose="02040502050405020303"/>
                      </a:endParaRPr>
                    </a:p>
                  </a:txBody>
                  <a:tcPr marL="0" marR="0" marT="342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bl>
          </a:graphicData>
        </a:graphic>
      </p:graphicFrame>
      <p:sp>
        <p:nvSpPr>
          <p:cNvPr id="5" name="object 5"/>
          <p:cNvSpPr txBox="1"/>
          <p:nvPr/>
        </p:nvSpPr>
        <p:spPr>
          <a:xfrm>
            <a:off x="869950" y="1219200"/>
            <a:ext cx="10511790" cy="3482340"/>
          </a:xfrm>
          <a:prstGeom prst="rect">
            <a:avLst/>
          </a:prstGeom>
        </p:spPr>
        <p:txBody>
          <a:bodyPr vert="horz" wrap="square" lIns="0" tIns="12700" rIns="0" bIns="0" rtlCol="0">
            <a:spAutoFit/>
          </a:bodyPr>
          <a:lstStyle/>
          <a:p>
            <a:pPr marL="673100" algn="ctr">
              <a:lnSpc>
                <a:spcPct val="100000"/>
              </a:lnSpc>
              <a:spcBef>
                <a:spcPts val="100"/>
              </a:spcBef>
            </a:pPr>
            <a:r>
              <a:rPr sz="2750" b="1" dirty="0">
                <a:latin typeface="Verdana" panose="020B0604030504040204"/>
                <a:cs typeface="Verdana" panose="020B0604030504040204"/>
              </a:rPr>
              <a:t>FINAL</a:t>
            </a:r>
            <a:r>
              <a:rPr sz="2750" b="1" spc="-185" dirty="0">
                <a:latin typeface="Verdana" panose="020B0604030504040204"/>
                <a:cs typeface="Verdana" panose="020B0604030504040204"/>
              </a:rPr>
              <a:t> </a:t>
            </a:r>
            <a:r>
              <a:rPr sz="2750" b="1" spc="-10" dirty="0">
                <a:latin typeface="Verdana" panose="020B0604030504040204"/>
                <a:cs typeface="Verdana" panose="020B0604030504040204"/>
              </a:rPr>
              <a:t>REVIEW</a:t>
            </a:r>
            <a:endParaRPr sz="2750" b="1" spc="-10" dirty="0">
              <a:latin typeface="Verdana" panose="020B0604030504040204"/>
              <a:cs typeface="Verdana" panose="020B0604030504040204"/>
            </a:endParaRPr>
          </a:p>
          <a:p>
            <a:pPr marL="673100" algn="ctr">
              <a:lnSpc>
                <a:spcPct val="100000"/>
              </a:lnSpc>
              <a:spcBef>
                <a:spcPts val="100"/>
              </a:spcBef>
            </a:pPr>
            <a:r>
              <a:rPr sz="2400" b="1" dirty="0">
                <a:latin typeface="Verdana" panose="020B0604030504040204"/>
                <a:cs typeface="Verdana" panose="020B0604030504040204"/>
              </a:rPr>
              <a:t>PROJECT</a:t>
            </a:r>
            <a:r>
              <a:rPr sz="2400" b="1" spc="145" dirty="0">
                <a:latin typeface="Verdana" panose="020B0604030504040204"/>
                <a:cs typeface="Verdana" panose="020B0604030504040204"/>
              </a:rPr>
              <a:t> </a:t>
            </a:r>
            <a:r>
              <a:rPr sz="2400" b="1" dirty="0">
                <a:latin typeface="Verdana" panose="020B0604030504040204"/>
                <a:cs typeface="Verdana" panose="020B0604030504040204"/>
              </a:rPr>
              <a:t>TITLE</a:t>
            </a:r>
            <a:r>
              <a:rPr sz="2400" b="1" spc="75" dirty="0">
                <a:latin typeface="Verdana" panose="020B0604030504040204"/>
                <a:cs typeface="Verdana" panose="020B0604030504040204"/>
              </a:rPr>
              <a:t> </a:t>
            </a:r>
            <a:r>
              <a:rPr sz="2400" b="1" dirty="0">
                <a:latin typeface="Verdana" panose="020B0604030504040204"/>
                <a:cs typeface="Verdana" panose="020B0604030504040204"/>
              </a:rPr>
              <a:t>:</a:t>
            </a:r>
            <a:r>
              <a:rPr lang="en-IN" altLang="en-US" sz="2400" b="1" dirty="0">
                <a:latin typeface="Verdana" panose="020B0604030504040204"/>
                <a:cs typeface="Verdana" panose="020B0604030504040204"/>
              </a:rPr>
              <a:t> PROACTIVE DISASTER DETECTION</a:t>
            </a:r>
            <a:endParaRPr sz="2400">
              <a:latin typeface="Verdana" panose="020B0604030504040204"/>
              <a:cs typeface="Verdana" panose="020B0604030504040204"/>
            </a:endParaRPr>
          </a:p>
          <a:p>
            <a:pPr marL="12700">
              <a:lnSpc>
                <a:spcPts val="2105"/>
              </a:lnSpc>
              <a:spcBef>
                <a:spcPts val="2665"/>
              </a:spcBef>
            </a:pPr>
            <a:r>
              <a:rPr sz="2000" b="1" dirty="0">
                <a:solidFill>
                  <a:srgbClr val="16375E"/>
                </a:solidFill>
                <a:latin typeface="Verdana" panose="020B0604030504040204"/>
                <a:cs typeface="Verdana" panose="020B0604030504040204"/>
              </a:rPr>
              <a:t>Batch</a:t>
            </a:r>
            <a:r>
              <a:rPr sz="2000" b="1" spc="-50" dirty="0">
                <a:solidFill>
                  <a:srgbClr val="16375E"/>
                </a:solidFill>
                <a:latin typeface="Verdana" panose="020B0604030504040204"/>
                <a:cs typeface="Verdana" panose="020B0604030504040204"/>
              </a:rPr>
              <a:t> </a:t>
            </a:r>
            <a:r>
              <a:rPr sz="2000" b="1" dirty="0">
                <a:solidFill>
                  <a:srgbClr val="16375E"/>
                </a:solidFill>
                <a:latin typeface="Verdana" panose="020B0604030504040204"/>
                <a:cs typeface="Verdana" panose="020B0604030504040204"/>
              </a:rPr>
              <a:t>Number:</a:t>
            </a:r>
            <a:r>
              <a:rPr lang="en-IN" altLang="en-US" sz="2000" b="1" dirty="0">
                <a:solidFill>
                  <a:srgbClr val="16375E"/>
                </a:solidFill>
                <a:latin typeface="Verdana" panose="020B0604030504040204"/>
                <a:cs typeface="Verdana" panose="020B0604030504040204"/>
              </a:rPr>
              <a:t> </a:t>
            </a:r>
            <a:r>
              <a:rPr lang="en-US" altLang="en-IN" sz="2000" b="1" dirty="0">
                <a:solidFill>
                  <a:srgbClr val="16375E"/>
                </a:solidFill>
                <a:latin typeface="Verdana" panose="020B0604030504040204"/>
                <a:cs typeface="Verdana" panose="020B0604030504040204"/>
              </a:rPr>
              <a:t>CSD-G03</a:t>
            </a:r>
            <a:endParaRPr lang="en-IN" altLang="en-US" sz="2000" b="1" dirty="0">
              <a:solidFill>
                <a:srgbClr val="16375E"/>
              </a:solidFill>
              <a:latin typeface="Verdana" panose="020B0604030504040204"/>
              <a:cs typeface="Verdana" panose="020B0604030504040204"/>
            </a:endParaRPr>
          </a:p>
          <a:p>
            <a:pPr marL="12700">
              <a:lnSpc>
                <a:spcPts val="2105"/>
              </a:lnSpc>
              <a:spcBef>
                <a:spcPts val="2665"/>
              </a:spcBef>
            </a:pPr>
            <a:r>
              <a:rPr lang="en-IN" altLang="en-US" sz="2000" b="1" dirty="0">
                <a:solidFill>
                  <a:srgbClr val="16375E"/>
                </a:solidFill>
                <a:latin typeface="Verdana" panose="020B0604030504040204"/>
                <a:cs typeface="Verdana" panose="020B0604030504040204"/>
              </a:rPr>
              <a:t>                                                                        </a:t>
            </a:r>
            <a:r>
              <a:rPr sz="2000" b="1" dirty="0">
                <a:solidFill>
                  <a:srgbClr val="16375E"/>
                </a:solidFill>
                <a:latin typeface="Verdana" panose="020B0604030504040204"/>
                <a:cs typeface="Verdana" panose="020B0604030504040204"/>
              </a:rPr>
              <a:t>Under</a:t>
            </a:r>
            <a:r>
              <a:rPr sz="2000" b="1" spc="-60" dirty="0">
                <a:solidFill>
                  <a:srgbClr val="16375E"/>
                </a:solidFill>
                <a:latin typeface="Verdana" panose="020B0604030504040204"/>
                <a:cs typeface="Verdana" panose="020B0604030504040204"/>
              </a:rPr>
              <a:t> </a:t>
            </a:r>
            <a:r>
              <a:rPr sz="2000" b="1" dirty="0">
                <a:solidFill>
                  <a:srgbClr val="16375E"/>
                </a:solidFill>
                <a:latin typeface="Verdana" panose="020B0604030504040204"/>
                <a:cs typeface="Verdana" panose="020B0604030504040204"/>
              </a:rPr>
              <a:t>the</a:t>
            </a:r>
            <a:r>
              <a:rPr sz="2000" b="1" spc="-85" dirty="0">
                <a:solidFill>
                  <a:srgbClr val="16375E"/>
                </a:solidFill>
                <a:latin typeface="Verdana" panose="020B0604030504040204"/>
                <a:cs typeface="Verdana" panose="020B0604030504040204"/>
              </a:rPr>
              <a:t> </a:t>
            </a:r>
            <a:r>
              <a:rPr sz="2000" b="1" dirty="0">
                <a:solidFill>
                  <a:srgbClr val="16375E"/>
                </a:solidFill>
                <a:latin typeface="Verdana" panose="020B0604030504040204"/>
                <a:cs typeface="Verdana" panose="020B0604030504040204"/>
              </a:rPr>
              <a:t>Supervision</a:t>
            </a:r>
            <a:r>
              <a:rPr sz="2000" b="1" spc="-110" dirty="0">
                <a:solidFill>
                  <a:srgbClr val="16375E"/>
                </a:solidFill>
                <a:latin typeface="Verdana" panose="020B0604030504040204"/>
                <a:cs typeface="Verdana" panose="020B0604030504040204"/>
              </a:rPr>
              <a:t> </a:t>
            </a:r>
            <a:r>
              <a:rPr sz="2000" b="1" spc="-25" dirty="0">
                <a:solidFill>
                  <a:srgbClr val="16375E"/>
                </a:solidFill>
                <a:latin typeface="Verdana" panose="020B0604030504040204"/>
                <a:cs typeface="Verdana" panose="020B0604030504040204"/>
              </a:rPr>
              <a:t>of,</a:t>
            </a:r>
            <a:endParaRPr sz="2000">
              <a:latin typeface="Verdana" panose="020B0604030504040204"/>
              <a:cs typeface="Verdana" panose="020B0604030504040204"/>
            </a:endParaRPr>
          </a:p>
          <a:p>
            <a:pPr>
              <a:lnSpc>
                <a:spcPct val="100000"/>
              </a:lnSpc>
              <a:spcBef>
                <a:spcPts val="1045"/>
              </a:spcBef>
            </a:pPr>
            <a:r>
              <a:rPr lang="en-IN" altLang="en-US" sz="2400" b="1" dirty="0">
                <a:solidFill>
                  <a:srgbClr val="16375E"/>
                </a:solidFill>
                <a:latin typeface="Verdana" panose="020B0604030504040204"/>
                <a:cs typeface="Verdana" panose="020B0604030504040204"/>
              </a:rPr>
              <a:t>                                                        Asst </a:t>
            </a:r>
            <a:r>
              <a:rPr sz="2400" b="1" dirty="0">
                <a:solidFill>
                  <a:srgbClr val="16375E"/>
                </a:solidFill>
                <a:latin typeface="Verdana" panose="020B0604030504040204"/>
                <a:cs typeface="Verdana" panose="020B0604030504040204"/>
              </a:rPr>
              <a:t>Prof.</a:t>
            </a:r>
            <a:r>
              <a:rPr sz="2400" b="1" spc="-110" dirty="0">
                <a:solidFill>
                  <a:srgbClr val="16375E"/>
                </a:solidFill>
                <a:latin typeface="Verdana" panose="020B0604030504040204"/>
                <a:cs typeface="Verdana" panose="020B0604030504040204"/>
              </a:rPr>
              <a:t> </a:t>
            </a:r>
            <a:r>
              <a:rPr lang="en-IN" altLang="en-US" sz="2400" b="1" spc="-110" dirty="0">
                <a:solidFill>
                  <a:srgbClr val="16375E"/>
                </a:solidFill>
                <a:latin typeface="Verdana" panose="020B0604030504040204"/>
                <a:cs typeface="Verdana" panose="020B0604030504040204"/>
              </a:rPr>
              <a:t>Dr. Manjunath K V</a:t>
            </a:r>
            <a:endParaRPr sz="2400">
              <a:latin typeface="Verdana" panose="020B0604030504040204"/>
              <a:cs typeface="Verdana" panose="020B0604030504040204"/>
            </a:endParaRPr>
          </a:p>
          <a:p>
            <a:pPr marL="6376035" marR="5080" indent="-1270" algn="ctr">
              <a:lnSpc>
                <a:spcPct val="122000"/>
              </a:lnSpc>
              <a:spcBef>
                <a:spcPts val="2340"/>
              </a:spcBef>
            </a:pPr>
            <a:r>
              <a:rPr sz="1700" b="1" dirty="0">
                <a:solidFill>
                  <a:srgbClr val="16375E"/>
                </a:solidFill>
                <a:latin typeface="Verdana" panose="020B0604030504040204"/>
                <a:cs typeface="Verdana" panose="020B0604030504040204"/>
              </a:rPr>
              <a:t>School</a:t>
            </a:r>
            <a:r>
              <a:rPr sz="1700" b="1" spc="-90" dirty="0">
                <a:solidFill>
                  <a:srgbClr val="16375E"/>
                </a:solidFill>
                <a:latin typeface="Verdana" panose="020B0604030504040204"/>
                <a:cs typeface="Verdana" panose="020B0604030504040204"/>
              </a:rPr>
              <a:t> </a:t>
            </a:r>
            <a:r>
              <a:rPr sz="1700" b="1" dirty="0">
                <a:solidFill>
                  <a:srgbClr val="16375E"/>
                </a:solidFill>
                <a:latin typeface="Verdana" panose="020B0604030504040204"/>
                <a:cs typeface="Verdana" panose="020B0604030504040204"/>
              </a:rPr>
              <a:t>of</a:t>
            </a:r>
            <a:r>
              <a:rPr sz="1700" b="1" spc="-65" dirty="0">
                <a:solidFill>
                  <a:srgbClr val="16375E"/>
                </a:solidFill>
                <a:latin typeface="Verdana" panose="020B0604030504040204"/>
                <a:cs typeface="Verdana" panose="020B0604030504040204"/>
              </a:rPr>
              <a:t> </a:t>
            </a:r>
            <a:r>
              <a:rPr sz="1700" b="1" dirty="0">
                <a:solidFill>
                  <a:srgbClr val="16375E"/>
                </a:solidFill>
                <a:latin typeface="Verdana" panose="020B0604030504040204"/>
                <a:cs typeface="Verdana" panose="020B0604030504040204"/>
              </a:rPr>
              <a:t>Computer</a:t>
            </a:r>
            <a:r>
              <a:rPr sz="1700" b="1" spc="-55" dirty="0">
                <a:solidFill>
                  <a:srgbClr val="16375E"/>
                </a:solidFill>
                <a:latin typeface="Verdana" panose="020B0604030504040204"/>
                <a:cs typeface="Verdana" panose="020B0604030504040204"/>
              </a:rPr>
              <a:t> </a:t>
            </a:r>
            <a:r>
              <a:rPr sz="1700" b="1" dirty="0">
                <a:solidFill>
                  <a:srgbClr val="16375E"/>
                </a:solidFill>
                <a:latin typeface="Verdana" panose="020B0604030504040204"/>
                <a:cs typeface="Verdana" panose="020B0604030504040204"/>
              </a:rPr>
              <a:t>Science</a:t>
            </a:r>
            <a:r>
              <a:rPr sz="1700" b="1" spc="-110" dirty="0">
                <a:solidFill>
                  <a:srgbClr val="16375E"/>
                </a:solidFill>
                <a:latin typeface="Verdana" panose="020B0604030504040204"/>
                <a:cs typeface="Verdana" panose="020B0604030504040204"/>
              </a:rPr>
              <a:t> </a:t>
            </a:r>
            <a:r>
              <a:rPr sz="1700" b="1" spc="-50" dirty="0">
                <a:solidFill>
                  <a:srgbClr val="16375E"/>
                </a:solidFill>
                <a:latin typeface="Verdana" panose="020B0604030504040204"/>
                <a:cs typeface="Verdana" panose="020B0604030504040204"/>
              </a:rPr>
              <a:t>&amp; </a:t>
            </a:r>
            <a:r>
              <a:rPr sz="1700" b="1" spc="-10" dirty="0">
                <a:solidFill>
                  <a:srgbClr val="16375E"/>
                </a:solidFill>
                <a:latin typeface="Verdana" panose="020B0604030504040204"/>
                <a:cs typeface="Verdana" panose="020B0604030504040204"/>
              </a:rPr>
              <a:t>Engineering</a:t>
            </a:r>
            <a:r>
              <a:rPr sz="1700" b="1" spc="-35" dirty="0">
                <a:solidFill>
                  <a:srgbClr val="16375E"/>
                </a:solidFill>
                <a:latin typeface="Verdana" panose="020B0604030504040204"/>
                <a:cs typeface="Verdana" panose="020B0604030504040204"/>
              </a:rPr>
              <a:t> </a:t>
            </a:r>
            <a:r>
              <a:rPr sz="1700" b="1" spc="-10" dirty="0">
                <a:solidFill>
                  <a:srgbClr val="16375E"/>
                </a:solidFill>
                <a:latin typeface="Verdana" panose="020B0604030504040204"/>
                <a:cs typeface="Verdana" panose="020B0604030504040204"/>
              </a:rPr>
              <a:t>Presidency</a:t>
            </a:r>
            <a:r>
              <a:rPr sz="1700" b="1" spc="-114" dirty="0">
                <a:solidFill>
                  <a:srgbClr val="16375E"/>
                </a:solidFill>
                <a:latin typeface="Verdana" panose="020B0604030504040204"/>
                <a:cs typeface="Verdana" panose="020B0604030504040204"/>
              </a:rPr>
              <a:t> </a:t>
            </a:r>
            <a:r>
              <a:rPr sz="1700" b="1" spc="-10" dirty="0">
                <a:solidFill>
                  <a:srgbClr val="16375E"/>
                </a:solidFill>
                <a:latin typeface="Verdana" panose="020B0604030504040204"/>
                <a:cs typeface="Verdana" panose="020B0604030504040204"/>
              </a:rPr>
              <a:t>University</a:t>
            </a:r>
            <a:endParaRPr sz="1700">
              <a:latin typeface="Verdana" panose="020B0604030504040204"/>
              <a:cs typeface="Verdana" panose="020B060403050404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7564" y="230505"/>
            <a:ext cx="10516870" cy="1367155"/>
          </a:xfrm>
          <a:prstGeom prst="rect">
            <a:avLst/>
          </a:prstGeom>
        </p:spPr>
        <p:txBody>
          <a:bodyPr vert="horz" wrap="square" lIns="0" tIns="13335" rIns="0" bIns="0" rtlCol="0">
            <a:spAutoFit/>
          </a:bodyPr>
          <a:lstStyle/>
          <a:p>
            <a:pPr marL="80010">
              <a:lnSpc>
                <a:spcPct val="100000"/>
              </a:lnSpc>
              <a:spcBef>
                <a:spcPts val="105"/>
              </a:spcBef>
            </a:pPr>
            <a:r>
              <a:rPr spc="-10" dirty="0"/>
              <a:t>ABSTRACT</a:t>
            </a:r>
            <a:br>
              <a:rPr spc="-10" dirty="0"/>
            </a:br>
            <a:endParaRPr spc="-10" dirty="0"/>
          </a:p>
        </p:txBody>
      </p:sp>
      <p:sp>
        <p:nvSpPr>
          <p:cNvPr id="3" name="object 3"/>
          <p:cNvSpPr txBox="1"/>
          <p:nvPr/>
        </p:nvSpPr>
        <p:spPr>
          <a:xfrm>
            <a:off x="533399" y="1043940"/>
            <a:ext cx="11075035" cy="4508500"/>
          </a:xfrm>
          <a:prstGeom prst="rect">
            <a:avLst/>
          </a:prstGeom>
        </p:spPr>
        <p:txBody>
          <a:bodyPr vert="horz" wrap="square" lIns="0" tIns="12700" rIns="0" bIns="0" rtlCol="0">
            <a:spAutoFit/>
          </a:bodyPr>
          <a:lstStyle/>
          <a:p>
            <a:pPr marL="12700" marR="217170" algn="just">
              <a:lnSpc>
                <a:spcPct val="150000"/>
              </a:lnSpc>
              <a:spcBef>
                <a:spcPts val="100"/>
              </a:spcBef>
            </a:pPr>
            <a:endParaRPr lang="en-US" altLang="en-US" sz="1800">
              <a:latin typeface="Calibri" panose="020F0502020204030204"/>
              <a:cs typeface="Calibri" panose="020F0502020204030204"/>
            </a:endParaRPr>
          </a:p>
          <a:p>
            <a:pPr marL="298450" marR="217170" indent="-285750" algn="just">
              <a:lnSpc>
                <a:spcPct val="150000"/>
              </a:lnSpc>
              <a:spcBef>
                <a:spcPts val="100"/>
              </a:spcBef>
              <a:buFont typeface="Arial" panose="020B0604020202020204" pitchFamily="34" charset="0"/>
              <a:buChar char="•"/>
            </a:pPr>
            <a:r>
              <a:rPr lang="en-US" altLang="en-US" sz="1800">
                <a:latin typeface="Calibri" panose="020F0502020204030204"/>
                <a:cs typeface="Calibri" panose="020F0502020204030204"/>
              </a:rPr>
              <a:t>The central objective of this project is to employ machine learning techniques to forecast natural disasters proactively. Utilizing statistical models applied to historical data, the system aims to predict future occurrences, incorporating Geographic Information System (GIS) data on tectonic plates and past floods. </a:t>
            </a:r>
            <a:endParaRPr lang="en-US" altLang="en-US" sz="1800">
              <a:latin typeface="Calibri" panose="020F0502020204030204"/>
              <a:cs typeface="Calibri" panose="020F0502020204030204"/>
            </a:endParaRPr>
          </a:p>
          <a:p>
            <a:pPr marL="298450" marR="217170" indent="-285750" algn="just">
              <a:lnSpc>
                <a:spcPct val="150000"/>
              </a:lnSpc>
              <a:spcBef>
                <a:spcPts val="100"/>
              </a:spcBef>
              <a:buFont typeface="Arial" panose="020B0604020202020204" pitchFamily="34" charset="0"/>
              <a:buChar char="•"/>
            </a:pPr>
            <a:endParaRPr lang="en-US" altLang="en-US" sz="1800">
              <a:latin typeface="Calibri" panose="020F0502020204030204"/>
              <a:cs typeface="Calibri" panose="020F0502020204030204"/>
            </a:endParaRPr>
          </a:p>
          <a:p>
            <a:pPr marL="298450" marR="217170" indent="-285750" algn="just">
              <a:lnSpc>
                <a:spcPct val="150000"/>
              </a:lnSpc>
              <a:spcBef>
                <a:spcPts val="100"/>
              </a:spcBef>
              <a:buFont typeface="Arial" panose="020B0604020202020204" pitchFamily="34" charset="0"/>
              <a:buChar char="•"/>
            </a:pPr>
            <a:r>
              <a:rPr lang="en-US" altLang="en-US" sz="1800">
                <a:latin typeface="Calibri" panose="020F0502020204030204"/>
                <a:cs typeface="Calibri" panose="020F0502020204030204"/>
              </a:rPr>
              <a:t>Through this approach, the model can be trained to anticipate floods and tsunamis, enabling early predictions that play a pivotal role in facilitating timely evacuation and disaster preparedness.Throughout the course of history, natural disasters have consistently posed a global-level threat, unleashing catastrophic events that cause significant harm to both lives and property.</a:t>
            </a:r>
            <a:endParaRPr lang="en-US" altLang="en-US" sz="1800">
              <a:latin typeface="Calibri" panose="020F0502020204030204"/>
              <a:cs typeface="Calibri" panose="020F0502020204030204"/>
            </a:endParaRPr>
          </a:p>
          <a:p>
            <a:pPr marL="12700" marR="217170" algn="just">
              <a:lnSpc>
                <a:spcPct val="150000"/>
              </a:lnSpc>
              <a:spcBef>
                <a:spcPts val="100"/>
              </a:spcBef>
            </a:pPr>
            <a:endParaRPr lang="en-US" altLang="en-US" sz="1800">
              <a:latin typeface="Calibri" panose="020F0502020204030204"/>
              <a:cs typeface="Calibri" panose="020F0502020204030204"/>
            </a:endParaRPr>
          </a:p>
          <a:p>
            <a:pPr marL="12700" marR="217170" algn="just">
              <a:lnSpc>
                <a:spcPct val="100000"/>
              </a:lnSpc>
              <a:spcBef>
                <a:spcPts val="100"/>
              </a:spcBef>
            </a:pPr>
            <a:endParaRPr lang="en-US" altLang="en-US" sz="1800">
              <a:latin typeface="Calibri" panose="020F0502020204030204"/>
              <a:cs typeface="Calibri" panose="020F050202020403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7564" y="230505"/>
            <a:ext cx="10516870" cy="676910"/>
          </a:xfrm>
        </p:spPr>
        <p:txBody>
          <a:bodyPr/>
          <a:p>
            <a:endParaRPr lang="en-US"/>
          </a:p>
        </p:txBody>
      </p:sp>
      <p:sp>
        <p:nvSpPr>
          <p:cNvPr id="3" name="Text Placeholder 2"/>
          <p:cNvSpPr>
            <a:spLocks noGrp="1"/>
          </p:cNvSpPr>
          <p:nvPr>
            <p:ph type="body" idx="1"/>
          </p:nvPr>
        </p:nvSpPr>
        <p:spPr>
          <a:xfrm>
            <a:off x="304800" y="990600"/>
            <a:ext cx="11483975" cy="4016375"/>
          </a:xfrm>
        </p:spPr>
        <p:txBody>
          <a:bodyPr/>
          <a:p>
            <a:pPr marL="285750" indent="-285750" algn="just">
              <a:lnSpc>
                <a:spcPct val="150000"/>
              </a:lnSpc>
              <a:buFont typeface="Arial" panose="020B0604020202020204" pitchFamily="34" charset="0"/>
              <a:buChar char="•"/>
            </a:pPr>
            <a:r>
              <a:rPr lang="en-US" altLang="en-US">
                <a:sym typeface="+mn-ea"/>
              </a:rPr>
              <a:t> These disasters have not only eradicated entire civilizations but have also steered the course of human history. The toll exacted by natural disasters is immense, resulting in the loss of hundreds of thousands of lives and billions in property damage. Despite advancements in physical, mental, and technological aspects, there are challenges that humans cannot fully overcome, with natural disasters standing out as one such formidable force. </a:t>
            </a:r>
            <a:endParaRPr lang="en-US" altLang="en-US">
              <a:latin typeface="Calibri" panose="020F0502020204030204"/>
              <a:cs typeface="Calibri" panose="020F0502020204030204"/>
            </a:endParaRPr>
          </a:p>
          <a:p>
            <a:pPr marL="285750" indent="-285750" algn="just">
              <a:lnSpc>
                <a:spcPct val="150000"/>
              </a:lnSpc>
              <a:buFont typeface="Arial" panose="020B0604020202020204" pitchFamily="34" charset="0"/>
              <a:buChar char="•"/>
            </a:pPr>
            <a:endParaRPr lang="en-US" altLang="en-US">
              <a:sym typeface="+mn-ea"/>
            </a:endParaRPr>
          </a:p>
          <a:p>
            <a:pPr marL="285750" indent="-285750" algn="just">
              <a:lnSpc>
                <a:spcPct val="150000"/>
              </a:lnSpc>
              <a:buFont typeface="Arial" panose="020B0604020202020204" pitchFamily="34" charset="0"/>
              <a:buChar char="•"/>
            </a:pPr>
            <a:endParaRPr lang="en-US" altLang="en-US">
              <a:sym typeface="+mn-ea"/>
            </a:endParaRPr>
          </a:p>
          <a:p>
            <a:pPr marL="285750" indent="-285750" algn="just">
              <a:lnSpc>
                <a:spcPct val="150000"/>
              </a:lnSpc>
              <a:buFont typeface="Arial" panose="020B0604020202020204" pitchFamily="34" charset="0"/>
              <a:buChar char="•"/>
            </a:pPr>
            <a:r>
              <a:rPr lang="en-US" altLang="en-US">
                <a:sym typeface="+mn-ea"/>
              </a:rPr>
              <a:t>While humanity may not possess the ability to prevent natural disasters entirely, adequate preparation lies within our control. Natural disasters can be broadly classified into geological and meteorological types. Despite ongoing efforts to predict earthquakes and other natural disasters, achieving precise predictions remains an enduring challenge.</a:t>
            </a:r>
            <a:endParaRPr lang="en-US" altLang="en-US">
              <a:latin typeface="Calibri" panose="020F0502020204030204"/>
              <a:cs typeface="Calibri" panose="020F0502020204030204"/>
            </a:endParaRPr>
          </a:p>
          <a:p>
            <a:pPr marL="285750" indent="-285750" algn="just">
              <a:buFont typeface="Arial" panose="020B0604020202020204" pitchFamily="34" charset="0"/>
              <a:buChar char="•"/>
            </a:pP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marL="80010">
              <a:lnSpc>
                <a:spcPct val="100000"/>
              </a:lnSpc>
              <a:spcBef>
                <a:spcPts val="105"/>
              </a:spcBef>
            </a:pPr>
            <a:r>
              <a:rPr spc="-10" dirty="0"/>
              <a:t>INTRODUCTION</a:t>
            </a:r>
            <a:endParaRPr spc="-10" dirty="0"/>
          </a:p>
        </p:txBody>
      </p:sp>
      <p:sp>
        <p:nvSpPr>
          <p:cNvPr id="3" name="object 3"/>
          <p:cNvSpPr txBox="1"/>
          <p:nvPr/>
        </p:nvSpPr>
        <p:spPr>
          <a:xfrm>
            <a:off x="609600" y="1066800"/>
            <a:ext cx="11151235" cy="5352415"/>
          </a:xfrm>
          <a:prstGeom prst="rect">
            <a:avLst/>
          </a:prstGeom>
        </p:spPr>
        <p:txBody>
          <a:bodyPr vert="horz" wrap="square" lIns="0" tIns="12700" rIns="0" bIns="0" rtlCol="0">
            <a:spAutoFit/>
          </a:bodyPr>
          <a:lstStyle/>
          <a:p>
            <a:pPr marL="298450" marR="5080" indent="-285750" algn="just">
              <a:lnSpc>
                <a:spcPct val="150000"/>
              </a:lnSpc>
              <a:spcBef>
                <a:spcPts val="100"/>
              </a:spcBef>
              <a:buFont typeface="Arial" panose="020B0604020202020204" pitchFamily="34" charset="0"/>
              <a:buChar char="•"/>
            </a:pPr>
            <a:r>
              <a:rPr lang="en-US" altLang="en-US" sz="1800">
                <a:latin typeface="Calibri" panose="020F0502020204030204"/>
                <a:cs typeface="Calibri" panose="020F0502020204030204"/>
              </a:rPr>
              <a:t>Over the last decade, over 2.6 billion people have been affected by disaster events that included tsunamis, flooding, earthquakes among many other hazards. Such disasters, be it natural or artificial ones, have already caused hundreds of deaths. These put a human's life, the ecology, as well as a nation's economy in danger. </a:t>
            </a:r>
            <a:endParaRPr lang="en-US" altLang="en-US" sz="1800">
              <a:latin typeface="Calibri" panose="020F0502020204030204"/>
              <a:cs typeface="Calibri" panose="020F0502020204030204"/>
            </a:endParaRPr>
          </a:p>
          <a:p>
            <a:pPr marL="298450" marR="5080" indent="-285750" algn="just">
              <a:lnSpc>
                <a:spcPct val="150000"/>
              </a:lnSpc>
              <a:spcBef>
                <a:spcPts val="100"/>
              </a:spcBef>
              <a:buFont typeface="Arial" panose="020B0604020202020204" pitchFamily="34" charset="0"/>
              <a:buChar char="•"/>
            </a:pPr>
            <a:endParaRPr lang="en-US" altLang="en-US" sz="1800">
              <a:latin typeface="Calibri" panose="020F0502020204030204"/>
              <a:cs typeface="Calibri" panose="020F0502020204030204"/>
            </a:endParaRPr>
          </a:p>
          <a:p>
            <a:pPr marL="298450" marR="5080" indent="-285750" algn="just">
              <a:lnSpc>
                <a:spcPct val="150000"/>
              </a:lnSpc>
              <a:spcBef>
                <a:spcPts val="100"/>
              </a:spcBef>
              <a:buFont typeface="Arial" panose="020B0604020202020204" pitchFamily="34" charset="0"/>
              <a:buChar char="•"/>
            </a:pPr>
            <a:r>
              <a:rPr lang="en-US" altLang="en-US" sz="1800">
                <a:latin typeface="Calibri" panose="020F0502020204030204"/>
                <a:cs typeface="Calibri" panose="020F0502020204030204"/>
              </a:rPr>
              <a:t>Computer science has made great advancement with time and the study of disaster management also got a huge amount of data from this field. Nevertheless, much of this data is unstructured and thus a challenge to clean and process at this high volume.</a:t>
            </a:r>
            <a:endParaRPr lang="en-US" altLang="en-US" sz="1800">
              <a:latin typeface="Calibri" panose="020F0502020204030204"/>
              <a:cs typeface="Calibri" panose="020F0502020204030204"/>
            </a:endParaRPr>
          </a:p>
          <a:p>
            <a:pPr marL="298450" marR="5080" indent="-285750" algn="just">
              <a:lnSpc>
                <a:spcPct val="150000"/>
              </a:lnSpc>
              <a:spcBef>
                <a:spcPts val="100"/>
              </a:spcBef>
              <a:buFont typeface="Arial" panose="020B0604020202020204" pitchFamily="34" charset="0"/>
              <a:buChar char="•"/>
            </a:pPr>
            <a:endParaRPr lang="en-US" altLang="en-US" sz="1800">
              <a:latin typeface="Calibri" panose="020F0502020204030204"/>
              <a:cs typeface="Calibri" panose="020F0502020204030204"/>
            </a:endParaRPr>
          </a:p>
          <a:p>
            <a:pPr marL="298450" marR="5080" indent="-285750" algn="just">
              <a:lnSpc>
                <a:spcPct val="150000"/>
              </a:lnSpc>
              <a:spcBef>
                <a:spcPts val="100"/>
              </a:spcBef>
              <a:buFont typeface="Arial" panose="020B0604020202020204" pitchFamily="34" charset="0"/>
              <a:buChar char="•"/>
            </a:pPr>
            <a:r>
              <a:rPr lang="en-US" altLang="en-US" sz="1800">
                <a:latin typeface="Calibri" panose="020F0502020204030204"/>
                <a:cs typeface="Calibri" panose="020F0502020204030204"/>
              </a:rPr>
              <a:t>The project addresses the issues with a comprehensive review of the existing procedures and techniques applicable during both pre- and post-disaster periods. This will reduce the losses to the minimum level and maximize preparedness against disasters.</a:t>
            </a:r>
            <a:endParaRPr lang="en-US" altLang="en-US" sz="1800">
              <a:latin typeface="Calibri" panose="020F0502020204030204"/>
              <a:cs typeface="Calibri" panose="020F0502020204030204"/>
            </a:endParaRPr>
          </a:p>
          <a:p>
            <a:pPr marL="12700" marR="5080" algn="just">
              <a:lnSpc>
                <a:spcPct val="150000"/>
              </a:lnSpc>
              <a:spcBef>
                <a:spcPts val="100"/>
              </a:spcBef>
            </a:pPr>
            <a:endParaRPr lang="en-US" altLang="en-US" sz="1800">
              <a:latin typeface="Calibri" panose="020F0502020204030204"/>
              <a:cs typeface="Calibri" panose="020F0502020204030204"/>
            </a:endParaRPr>
          </a:p>
          <a:p>
            <a:pPr marL="12700" marR="5080" algn="just">
              <a:lnSpc>
                <a:spcPct val="100000"/>
              </a:lnSpc>
              <a:spcBef>
                <a:spcPts val="100"/>
              </a:spcBef>
            </a:pPr>
            <a:endParaRPr lang="en-US" altLang="en-US" sz="1800">
              <a:latin typeface="Calibri" panose="020F0502020204030204"/>
              <a:cs typeface="Calibri" panose="020F050202020403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Text Placeholder 2"/>
          <p:cNvSpPr>
            <a:spLocks noGrp="1"/>
          </p:cNvSpPr>
          <p:nvPr>
            <p:ph type="body" idx="1"/>
          </p:nvPr>
        </p:nvSpPr>
        <p:spPr>
          <a:xfrm>
            <a:off x="342900" y="609600"/>
            <a:ext cx="11483975" cy="4647565"/>
          </a:xfrm>
        </p:spPr>
        <p:txBody>
          <a:bodyPr/>
          <a:p>
            <a:pPr marL="285750" marR="5080" indent="-285750" algn="just">
              <a:lnSpc>
                <a:spcPct val="150000"/>
              </a:lnSpc>
              <a:spcBef>
                <a:spcPts val="100"/>
              </a:spcBef>
              <a:buFont typeface="Arial" panose="020B0604020202020204" pitchFamily="34" charset="0"/>
              <a:buChar char="•"/>
            </a:pPr>
            <a:r>
              <a:rPr lang="en-US" altLang="en-US">
                <a:sym typeface="+mn-ea"/>
              </a:rPr>
              <a:t>The occurrence or incidents of natural calamities can, therefore, be described as forceful or violent happenings with tremendous devastations on humanity and the existence of living organisms.</a:t>
            </a:r>
            <a:endParaRPr lang="en-US" altLang="en-US">
              <a:latin typeface="Calibri" panose="020F0502020204030204"/>
              <a:cs typeface="Calibri" panose="020F0502020204030204"/>
            </a:endParaRPr>
          </a:p>
          <a:p>
            <a:pPr marL="285750" marR="5080" indent="-285750" algn="just">
              <a:lnSpc>
                <a:spcPct val="150000"/>
              </a:lnSpc>
              <a:spcBef>
                <a:spcPts val="100"/>
              </a:spcBef>
              <a:buFont typeface="Arial" panose="020B0604020202020204" pitchFamily="34" charset="0"/>
              <a:buChar char="•"/>
            </a:pPr>
            <a:endParaRPr lang="en-US" altLang="en-US">
              <a:latin typeface="Calibri" panose="020F0502020204030204"/>
              <a:cs typeface="Calibri" panose="020F0502020204030204"/>
            </a:endParaRPr>
          </a:p>
          <a:p>
            <a:pPr marL="285750" marR="5080" indent="-285750" algn="just">
              <a:lnSpc>
                <a:spcPct val="150000"/>
              </a:lnSpc>
              <a:spcBef>
                <a:spcPts val="100"/>
              </a:spcBef>
              <a:buFont typeface="Arial" panose="020B0604020202020204" pitchFamily="34" charset="0"/>
              <a:buChar char="•"/>
            </a:pPr>
            <a:r>
              <a:rPr lang="en-US" altLang="en-US">
                <a:sym typeface="+mn-ea"/>
              </a:rPr>
              <a:t>The field of artificial intelligence, particularly machine learning, deals with the design of statistical models and algorithms that allow computers to learn from data, identify patterns, and make decisions on their own.</a:t>
            </a:r>
            <a:endParaRPr lang="en-US" altLang="en-US">
              <a:sym typeface="+mn-ea"/>
            </a:endParaRPr>
          </a:p>
          <a:p>
            <a:pPr marL="285750" marR="5080" indent="-285750" algn="just">
              <a:lnSpc>
                <a:spcPct val="150000"/>
              </a:lnSpc>
              <a:spcBef>
                <a:spcPts val="100"/>
              </a:spcBef>
              <a:buFont typeface="Arial" panose="020B0604020202020204" pitchFamily="34" charset="0"/>
              <a:buChar char="•"/>
            </a:pPr>
            <a:endParaRPr lang="en-US" altLang="en-US">
              <a:latin typeface="Calibri" panose="020F0502020204030204"/>
              <a:cs typeface="Calibri" panose="020F0502020204030204"/>
              <a:sym typeface="+mn-ea"/>
            </a:endParaRPr>
          </a:p>
          <a:p>
            <a:pPr marL="285750" marR="5080" indent="-285750" algn="just">
              <a:lnSpc>
                <a:spcPct val="150000"/>
              </a:lnSpc>
              <a:spcBef>
                <a:spcPts val="100"/>
              </a:spcBef>
              <a:buFont typeface="Arial" panose="020B0604020202020204" pitchFamily="34" charset="0"/>
              <a:buChar char="•"/>
            </a:pPr>
            <a:r>
              <a:rPr lang="en-US" altLang="en-US">
                <a:sym typeface="+mn-ea"/>
              </a:rPr>
              <a:t>The last few years have seen the intensive involvement of machine learning in the forecast area that basically endeavors through identification to avoid natural disasters. Of late, machine learning algorithms have been devised which compute the possibility of natural disasters based upon past history.</a:t>
            </a:r>
            <a:endParaRPr lang="en-US" altLang="en-US">
              <a:latin typeface="Calibri" panose="020F0502020204030204"/>
              <a:cs typeface="Calibri" panose="020F0502020204030204"/>
              <a:sym typeface="+mn-ea"/>
            </a:endParaRPr>
          </a:p>
          <a:p>
            <a:pPr marR="5080" algn="just">
              <a:lnSpc>
                <a:spcPct val="150000"/>
              </a:lnSpc>
              <a:spcBef>
                <a:spcPts val="100"/>
              </a:spcBef>
            </a:pPr>
            <a:endParaRPr lang="en-US" altLang="en-US">
              <a:latin typeface="Calibri" panose="020F0502020204030204"/>
              <a:cs typeface="Calibri" panose="020F0502020204030204"/>
            </a:endParaRPr>
          </a:p>
          <a:p>
            <a:pPr marR="5080" algn="just">
              <a:lnSpc>
                <a:spcPct val="150000"/>
              </a:lnSpc>
              <a:spcBef>
                <a:spcPts val="100"/>
              </a:spcBef>
            </a:pP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7564" y="230505"/>
            <a:ext cx="10516870" cy="690245"/>
          </a:xfrm>
          <a:prstGeom prst="rect">
            <a:avLst/>
          </a:prstGeom>
        </p:spPr>
        <p:txBody>
          <a:bodyPr vert="horz" wrap="square" lIns="0" tIns="13335" rIns="0" bIns="0" rtlCol="0">
            <a:spAutoFit/>
          </a:bodyPr>
          <a:lstStyle/>
          <a:p>
            <a:pPr marL="80010">
              <a:lnSpc>
                <a:spcPct val="100000"/>
              </a:lnSpc>
              <a:spcBef>
                <a:spcPts val="105"/>
              </a:spcBef>
            </a:pPr>
            <a:endParaRPr spc="-10" dirty="0"/>
          </a:p>
        </p:txBody>
      </p:sp>
      <p:sp>
        <p:nvSpPr>
          <p:cNvPr id="3" name="object 3"/>
          <p:cNvSpPr txBox="1"/>
          <p:nvPr/>
        </p:nvSpPr>
        <p:spPr>
          <a:xfrm>
            <a:off x="646430" y="609600"/>
            <a:ext cx="10915015" cy="4231640"/>
          </a:xfrm>
          <a:prstGeom prst="rect">
            <a:avLst/>
          </a:prstGeom>
        </p:spPr>
        <p:txBody>
          <a:bodyPr vert="horz" wrap="square" lIns="0" tIns="12700" rIns="0" bIns="0" rtlCol="0">
            <a:spAutoFit/>
          </a:bodyPr>
          <a:lstStyle/>
          <a:p>
            <a:pPr marR="5080" algn="just">
              <a:lnSpc>
                <a:spcPct val="150000"/>
              </a:lnSpc>
              <a:spcBef>
                <a:spcPts val="100"/>
              </a:spcBef>
            </a:pPr>
            <a:endParaRPr lang="en-US" altLang="en-US" sz="1800">
              <a:latin typeface="Calibri" panose="020F0502020204030204"/>
              <a:cs typeface="Calibri" panose="020F0502020204030204"/>
            </a:endParaRPr>
          </a:p>
          <a:p>
            <a:pPr marL="285750" marR="5080" indent="-285750" algn="just">
              <a:lnSpc>
                <a:spcPct val="150000"/>
              </a:lnSpc>
              <a:spcBef>
                <a:spcPts val="100"/>
              </a:spcBef>
              <a:buFont typeface="Arial" panose="020B0604020202020204" pitchFamily="34" charset="0"/>
              <a:buChar char="•"/>
            </a:pPr>
            <a:r>
              <a:rPr lang="en-US" altLang="en-US" sz="1800">
                <a:latin typeface="Calibri" panose="020F0502020204030204"/>
                <a:cs typeface="Calibri" panose="020F0502020204030204"/>
                <a:sym typeface="+mn-ea"/>
              </a:rPr>
              <a:t>These algorithms analyze various sources of data that include satellite data, atmospheric data, and historical data on weather and catastrophes to come up with some pretty accurate forecasting.</a:t>
            </a:r>
            <a:endParaRPr lang="en-US" altLang="en-US" sz="1800">
              <a:latin typeface="Calibri" panose="020F0502020204030204"/>
              <a:cs typeface="Calibri" panose="020F0502020204030204"/>
              <a:sym typeface="+mn-ea"/>
            </a:endParaRPr>
          </a:p>
          <a:p>
            <a:pPr marL="285750" marR="5080" indent="-285750" algn="just">
              <a:lnSpc>
                <a:spcPct val="150000"/>
              </a:lnSpc>
              <a:spcBef>
                <a:spcPts val="100"/>
              </a:spcBef>
              <a:buFont typeface="Arial" panose="020B0604020202020204" pitchFamily="34" charset="0"/>
              <a:buChar char="•"/>
            </a:pPr>
            <a:endParaRPr lang="en-US" altLang="en-US" sz="1800">
              <a:latin typeface="Calibri" panose="020F0502020204030204"/>
              <a:cs typeface="Calibri" panose="020F0502020204030204"/>
            </a:endParaRPr>
          </a:p>
          <a:p>
            <a:pPr marL="285750" marR="5080" indent="-285750" algn="just">
              <a:lnSpc>
                <a:spcPct val="150000"/>
              </a:lnSpc>
              <a:spcBef>
                <a:spcPts val="100"/>
              </a:spcBef>
              <a:buFont typeface="Arial" panose="020B0604020202020204" pitchFamily="34" charset="0"/>
              <a:buChar char="•"/>
            </a:pPr>
            <a:r>
              <a:rPr lang="en-US" altLang="en-US" sz="1800">
                <a:latin typeface="Calibri" panose="020F0502020204030204"/>
                <a:cs typeface="Calibri" panose="020F0502020204030204"/>
                <a:sym typeface="+mn-ea"/>
              </a:rPr>
              <a:t>To make an effective prediction of the onset of a natural disaster, we have used one neural network and two separate machine learning strategies. Long Short Term Memory(LSTM), Linear Regression, ARIMA is the name of the different types of algorithms.</a:t>
            </a:r>
            <a:endParaRPr lang="en-US" altLang="en-US" sz="1800">
              <a:latin typeface="Calibri" panose="020F0502020204030204"/>
              <a:cs typeface="Calibri" panose="020F0502020204030204"/>
              <a:sym typeface="+mn-ea"/>
            </a:endParaRPr>
          </a:p>
          <a:p>
            <a:pPr marL="285750" marR="5080" indent="-285750" algn="just">
              <a:lnSpc>
                <a:spcPct val="150000"/>
              </a:lnSpc>
              <a:spcBef>
                <a:spcPts val="100"/>
              </a:spcBef>
              <a:buFont typeface="Arial" panose="020B0604020202020204" pitchFamily="34" charset="0"/>
              <a:buChar char="•"/>
            </a:pPr>
            <a:endParaRPr lang="en-US" altLang="en-US" sz="1800">
              <a:latin typeface="Calibri" panose="020F0502020204030204"/>
              <a:cs typeface="Calibri" panose="020F0502020204030204"/>
            </a:endParaRPr>
          </a:p>
          <a:p>
            <a:pPr marL="285750" marR="5080" indent="-285750" algn="just">
              <a:lnSpc>
                <a:spcPct val="150000"/>
              </a:lnSpc>
              <a:spcBef>
                <a:spcPts val="100"/>
              </a:spcBef>
              <a:buFont typeface="Arial" panose="020B0604020202020204" pitchFamily="34" charset="0"/>
              <a:buChar char="•"/>
            </a:pPr>
            <a:r>
              <a:rPr lang="en-US" altLang="en-US" sz="1800">
                <a:latin typeface="Calibri" panose="020F0502020204030204"/>
                <a:cs typeface="Calibri" panose="020F0502020204030204"/>
                <a:sym typeface="+mn-ea"/>
              </a:rPr>
              <a:t>The models that performed best at predicting when a natural disaster would first manifest itself have been chosen after we assessed how well each of them performed.</a:t>
            </a:r>
            <a:endParaRPr sz="1800">
              <a:latin typeface="Calibri" panose="020F0502020204030204"/>
              <a:cs typeface="Calibri" panose="020F050202020403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marL="80010">
              <a:lnSpc>
                <a:spcPct val="100000"/>
              </a:lnSpc>
              <a:spcBef>
                <a:spcPts val="105"/>
              </a:spcBef>
            </a:pPr>
            <a:r>
              <a:rPr dirty="0"/>
              <a:t>LITERATURE</a:t>
            </a:r>
            <a:r>
              <a:rPr spc="-65" dirty="0"/>
              <a:t> </a:t>
            </a:r>
            <a:r>
              <a:rPr spc="-10" dirty="0"/>
              <a:t>REVIEW</a:t>
            </a:r>
            <a:endParaRPr spc="-10" dirty="0"/>
          </a:p>
        </p:txBody>
      </p:sp>
      <p:sp>
        <p:nvSpPr>
          <p:cNvPr id="4" name="Text Box 3"/>
          <p:cNvSpPr txBox="1"/>
          <p:nvPr/>
        </p:nvSpPr>
        <p:spPr>
          <a:xfrm>
            <a:off x="941070" y="1066800"/>
            <a:ext cx="10573385" cy="5492750"/>
          </a:xfrm>
          <a:prstGeom prst="rect">
            <a:avLst/>
          </a:prstGeom>
          <a:noFill/>
        </p:spPr>
        <p:txBody>
          <a:bodyPr wrap="square" rtlCol="0">
            <a:spAutoFit/>
          </a:bodyPr>
          <a:p>
            <a:pPr algn="just">
              <a:lnSpc>
                <a:spcPct val="150000"/>
              </a:lnSpc>
            </a:pPr>
            <a:r>
              <a:rPr lang="en-US" altLang="en-US"/>
              <a:t>1. Introduction</a:t>
            </a:r>
            <a:endParaRPr lang="en-US" altLang="en-US"/>
          </a:p>
          <a:p>
            <a:pPr algn="just">
              <a:lnSpc>
                <a:spcPct val="150000"/>
              </a:lnSpc>
            </a:pPr>
            <a:r>
              <a:rPr lang="en-US" altLang="en-US"/>
              <a:t>Natural disasters such as floods, earthquakes, and cyclones have devastating impacts on human life, infrastructure, and the economy. Traditional disaster detection methods, while useful, are often reactive and rely heavily on historical data, limiting their adaptability to dynamic and evolving situations. </a:t>
            </a:r>
            <a:endParaRPr lang="en-US" altLang="en-US"/>
          </a:p>
          <a:p>
            <a:pPr algn="just">
              <a:lnSpc>
                <a:spcPct val="150000"/>
              </a:lnSpc>
            </a:pPr>
            <a:endParaRPr lang="en-US" altLang="en-US"/>
          </a:p>
          <a:p>
            <a:pPr algn="just">
              <a:lnSpc>
                <a:spcPct val="150000"/>
              </a:lnSpc>
            </a:pPr>
            <a:r>
              <a:rPr lang="en-US" altLang="en-US"/>
              <a:t>2. Machine Learning in Disaster Prediction</a:t>
            </a:r>
            <a:endParaRPr lang="en-US" altLang="en-US"/>
          </a:p>
          <a:p>
            <a:pPr algn="just">
              <a:lnSpc>
                <a:spcPct val="150000"/>
              </a:lnSpc>
            </a:pPr>
            <a:r>
              <a:rPr lang="en-US" altLang="en-US"/>
              <a:t>The advent of machine learning has enhanced disaster prediction accuracy by identifying patterns in complex datasets. Studies employing models like Random Forest and Support Vector Machines have shown their effectiveness in classifying disaster risks based on environmental and geological factors. Deep learning methods, particularly Long Short-Term Memory (LSTM) networks, excel at time-series predictions, such as forecasting rainfall patterns or seismic activity. </a:t>
            </a:r>
            <a:endParaRPr lang="en-US" altLang="en-US"/>
          </a:p>
          <a:p>
            <a:pPr algn="just">
              <a:lnSpc>
                <a:spcPct val="150000"/>
              </a:lnSpc>
            </a:pPr>
            <a:endParaRPr lang="en-US" altLang="en-US"/>
          </a:p>
          <a:p>
            <a:pPr algn="just">
              <a:lnSpc>
                <a:spcPct val="150000"/>
              </a:lnSpc>
            </a:pPr>
            <a:endParaRPr lang="en-US"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7564" y="230505"/>
            <a:ext cx="10516870" cy="690245"/>
          </a:xfrm>
          <a:prstGeom prst="rect">
            <a:avLst/>
          </a:prstGeom>
        </p:spPr>
        <p:txBody>
          <a:bodyPr vert="horz" wrap="square" lIns="0" tIns="13335" rIns="0" bIns="0" rtlCol="0">
            <a:spAutoFit/>
          </a:bodyPr>
          <a:lstStyle/>
          <a:p>
            <a:pPr marL="80010">
              <a:lnSpc>
                <a:spcPct val="100000"/>
              </a:lnSpc>
              <a:spcBef>
                <a:spcPts val="105"/>
              </a:spcBef>
            </a:pPr>
            <a:endParaRPr spc="-10" dirty="0"/>
          </a:p>
        </p:txBody>
      </p:sp>
      <p:sp>
        <p:nvSpPr>
          <p:cNvPr id="3" name="Text Box 2"/>
          <p:cNvSpPr txBox="1"/>
          <p:nvPr/>
        </p:nvSpPr>
        <p:spPr>
          <a:xfrm>
            <a:off x="609600" y="381000"/>
            <a:ext cx="10626090" cy="5631180"/>
          </a:xfrm>
          <a:prstGeom prst="rect">
            <a:avLst/>
          </a:prstGeom>
          <a:noFill/>
        </p:spPr>
        <p:txBody>
          <a:bodyPr wrap="square" rtlCol="0">
            <a:spAutoFit/>
          </a:bodyPr>
          <a:p>
            <a:pPr algn="just">
              <a:lnSpc>
                <a:spcPct val="150000"/>
              </a:lnSpc>
            </a:pPr>
            <a:r>
              <a:rPr lang="en-US" altLang="en-US">
                <a:sym typeface="+mn-ea"/>
              </a:rPr>
              <a:t>3.  Time-Series Analysis for Early Warnings</a:t>
            </a:r>
            <a:endParaRPr lang="en-US" altLang="en-US"/>
          </a:p>
          <a:p>
            <a:pPr algn="just">
              <a:lnSpc>
                <a:spcPct val="150000"/>
              </a:lnSpc>
            </a:pPr>
            <a:r>
              <a:rPr lang="en-US" altLang="en-US">
                <a:sym typeface="+mn-ea"/>
              </a:rPr>
              <a:t>Time-series models, such as ARIMA (AutoRegressive Integrated Moving Average) and Seasonal ARIMA (SARIMA), have been widely used for predicting weather and rainfall trends. These models are particularly effective for short-term forecasting but often lack the robustness needed for long-term predictions involving multivariate data. </a:t>
            </a:r>
            <a:endParaRPr lang="en-US" altLang="en-US"/>
          </a:p>
          <a:p>
            <a:pPr algn="just">
              <a:lnSpc>
                <a:spcPct val="150000"/>
              </a:lnSpc>
            </a:pPr>
            <a:endParaRPr lang="en-US" altLang="en-US"/>
          </a:p>
          <a:p>
            <a:pPr algn="just">
              <a:lnSpc>
                <a:spcPct val="150000"/>
              </a:lnSpc>
            </a:pPr>
            <a:r>
              <a:rPr lang="en-US" altLang="en-US">
                <a:sym typeface="+mn-ea"/>
              </a:rPr>
              <a:t>4. Geospatial Analysis and Disaster Mapping</a:t>
            </a:r>
            <a:endParaRPr lang="en-US" altLang="en-US"/>
          </a:p>
          <a:p>
            <a:pPr algn="just">
              <a:lnSpc>
                <a:spcPct val="150000"/>
              </a:lnSpc>
            </a:pPr>
            <a:r>
              <a:rPr lang="en-US" altLang="en-US">
                <a:sym typeface="+mn-ea"/>
              </a:rPr>
              <a:t>Geographic Information Systems (GIS) have proven invaluable in disaster risk mapping, identifying high-risk zones for floods, landslides, and wildfires. Modern GIS tools, such as QGIS and Folium, enable dynamic visualization of disaster-prone areas. Despite their utility, many GIS-based approaches are static and fail to incorporate real-time data streams, limiting their responsiveness to evolving disasters.</a:t>
            </a:r>
            <a:endParaRPr lang="en-US" altLang="en-US">
              <a:sym typeface="+mn-ea"/>
            </a:endParaRPr>
          </a:p>
          <a:p>
            <a:endParaRPr lang="en-US" altLang="en-US"/>
          </a:p>
          <a:p>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Text Placeholder 2"/>
          <p:cNvSpPr>
            <a:spLocks noGrp="1"/>
          </p:cNvSpPr>
          <p:nvPr>
            <p:ph type="body" idx="1"/>
          </p:nvPr>
        </p:nvSpPr>
        <p:spPr>
          <a:xfrm>
            <a:off x="342900" y="838200"/>
            <a:ext cx="11483975" cy="4708525"/>
          </a:xfrm>
        </p:spPr>
        <p:txBody>
          <a:bodyPr/>
          <a:p>
            <a:pPr algn="just">
              <a:lnSpc>
                <a:spcPct val="150000"/>
              </a:lnSpc>
            </a:pPr>
            <a:r>
              <a:rPr lang="en-US" altLang="en-US">
                <a:sym typeface="+mn-ea"/>
              </a:rPr>
              <a:t>5. Real-Time Data Integration Challenges</a:t>
            </a:r>
            <a:endParaRPr lang="en-US" altLang="en-US"/>
          </a:p>
          <a:p>
            <a:pPr algn="just">
              <a:lnSpc>
                <a:spcPct val="150000"/>
              </a:lnSpc>
            </a:pPr>
            <a:r>
              <a:rPr lang="en-US" altLang="en-US">
                <a:sym typeface="+mn-ea"/>
              </a:rPr>
              <a:t>While real-time data integration is critical for dynamic disaster detection, it presents challenges related to data collection, preprocessing, and model adaptability. Existing studies highlight the need to incorporate diverse data sources, such as satellite imagery, IoT sensor data, and meteorological reports, into predictive models. </a:t>
            </a:r>
            <a:endParaRPr lang="en-US" altLang="en-US">
              <a:sym typeface="+mn-ea"/>
            </a:endParaRPr>
          </a:p>
          <a:p>
            <a:pPr algn="just">
              <a:lnSpc>
                <a:spcPct val="150000"/>
              </a:lnSpc>
            </a:pPr>
            <a:endParaRPr lang="en-US" altLang="en-US"/>
          </a:p>
          <a:p>
            <a:pPr algn="just">
              <a:lnSpc>
                <a:spcPct val="150000"/>
              </a:lnSpc>
            </a:pPr>
            <a:r>
              <a:rPr lang="en-US" altLang="en-US">
                <a:sym typeface="+mn-ea"/>
              </a:rPr>
              <a:t>6. Limitations of Existing Methods</a:t>
            </a:r>
            <a:endParaRPr lang="en-US" altLang="en-US"/>
          </a:p>
          <a:p>
            <a:pPr algn="just">
              <a:lnSpc>
                <a:spcPct val="150000"/>
              </a:lnSpc>
            </a:pPr>
            <a:r>
              <a:rPr lang="en-US" altLang="en-US">
                <a:sym typeface="+mn-ea"/>
              </a:rPr>
              <a:t>Current approaches often fail to address the following:</a:t>
            </a:r>
            <a:endParaRPr lang="en-US" altLang="en-US"/>
          </a:p>
          <a:p>
            <a:pPr algn="just">
              <a:lnSpc>
                <a:spcPct val="150000"/>
              </a:lnSpc>
            </a:pPr>
            <a:r>
              <a:rPr lang="en-US" altLang="en-US">
                <a:sym typeface="+mn-ea"/>
              </a:rPr>
              <a:t>1.The integration of multivariate datasets involving socio-economic, environmental, and geospatial factors.</a:t>
            </a:r>
            <a:endParaRPr lang="en-US" altLang="en-US"/>
          </a:p>
          <a:p>
            <a:pPr algn="just">
              <a:lnSpc>
                <a:spcPct val="150000"/>
              </a:lnSpc>
            </a:pPr>
            <a:r>
              <a:rPr lang="en-US" altLang="en-US">
                <a:sym typeface="+mn-ea"/>
              </a:rPr>
              <a:t>2.Scalability of models to accommodate different disaster types and geographical regions.</a:t>
            </a:r>
            <a:endParaRPr lang="en-US" altLang="en-US"/>
          </a:p>
          <a:p>
            <a:pPr algn="just">
              <a:lnSpc>
                <a:spcPct val="150000"/>
              </a:lnSpc>
            </a:pPr>
            <a:r>
              <a:rPr lang="en-US" altLang="en-US">
                <a:sym typeface="+mn-ea"/>
              </a:rPr>
              <a:t>3.Real-time model adaptability to continuously evolving data streams.</a:t>
            </a:r>
            <a:endParaRPr lang="en-US" altLang="en-US"/>
          </a:p>
          <a:p>
            <a:endParaRPr lang="en-US"/>
          </a:p>
          <a:p>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02284" y="132915"/>
            <a:ext cx="11294745" cy="4705350"/>
          </a:xfrm>
          <a:prstGeom prst="rect">
            <a:avLst/>
          </a:prstGeom>
        </p:spPr>
        <p:txBody>
          <a:bodyPr vert="horz" wrap="square" lIns="0" tIns="110489" rIns="0" bIns="0" rtlCol="0">
            <a:spAutoFit/>
          </a:bodyPr>
          <a:lstStyle/>
          <a:p>
            <a:pPr marL="415290">
              <a:lnSpc>
                <a:spcPct val="100000"/>
              </a:lnSpc>
              <a:spcBef>
                <a:spcPts val="870"/>
              </a:spcBef>
            </a:pPr>
            <a:r>
              <a:rPr dirty="0"/>
              <a:t>RESEARCH</a:t>
            </a:r>
            <a:r>
              <a:rPr spc="-45" dirty="0"/>
              <a:t> </a:t>
            </a:r>
            <a:r>
              <a:rPr dirty="0"/>
              <a:t>GAPS</a:t>
            </a:r>
            <a:r>
              <a:rPr spc="-40" dirty="0"/>
              <a:t> </a:t>
            </a:r>
            <a:r>
              <a:rPr spc="-10" dirty="0"/>
              <a:t>IDENTIFIED</a:t>
            </a:r>
            <a:endParaRPr spc="-10" dirty="0"/>
          </a:p>
          <a:p>
            <a:pPr marL="12700" marR="5080" indent="0">
              <a:lnSpc>
                <a:spcPct val="100000"/>
              </a:lnSpc>
              <a:spcBef>
                <a:spcPts val="315"/>
              </a:spcBef>
              <a:buNone/>
            </a:pPr>
            <a:br>
              <a:rPr lang="en-US" altLang="en-US" sz="1800">
                <a:latin typeface="Calibri" panose="020F0502020204030204"/>
                <a:cs typeface="Calibri" panose="020F0502020204030204"/>
              </a:rPr>
            </a:br>
            <a:br>
              <a:rPr lang="en-US" altLang="en-US" sz="1800">
                <a:latin typeface="Calibri" panose="020F0502020204030204"/>
                <a:cs typeface="Calibri" panose="020F0502020204030204"/>
              </a:rPr>
            </a:br>
            <a:r>
              <a:rPr lang="en-US" altLang="en-US" sz="1800">
                <a:latin typeface="Calibri" panose="020F0502020204030204"/>
                <a:cs typeface="Calibri" panose="020F0502020204030204"/>
              </a:rPr>
              <a:t>The research gap in natural disasters lies in the inadequate understanding of the long-term socio-economic impacts on communities that are susceptible to these calamities. Whereas various studies focus on immediate response and recovery, there is a shortage of research examining the long-term consequences on societies, particularly in developing regions. </a:t>
            </a:r>
            <a:br>
              <a:rPr lang="en-US" altLang="en-US" sz="1800">
                <a:latin typeface="Calibri" panose="020F0502020204030204"/>
                <a:cs typeface="Calibri" panose="020F0502020204030204"/>
              </a:rPr>
            </a:br>
            <a:br>
              <a:rPr lang="en-US" altLang="en-US" sz="1800">
                <a:latin typeface="Calibri" panose="020F0502020204030204"/>
                <a:cs typeface="Calibri" panose="020F0502020204030204"/>
              </a:rPr>
            </a:br>
            <a:r>
              <a:rPr lang="en-US" altLang="en-US" sz="1800">
                <a:latin typeface="Calibri" panose="020F0502020204030204"/>
                <a:cs typeface="Calibri" panose="020F0502020204030204"/>
              </a:rPr>
              <a:t>The complex interaction of pre-existing vulnerabilities, post-disaster adaptive capacities, and the chronic challenges faced by affected populations in their struggle to rebuild their lives has not received sufficient attention. Furthermore, there is a serious lack of an integrated approach, drawing on environmental science, social dynamics, and policy analysis in putting together comprehensive strategies for mitigating the long-term effects of natural disasters. </a:t>
            </a:r>
            <a:br>
              <a:rPr lang="en-US" altLang="en-US" sz="1800">
                <a:latin typeface="Calibri" panose="020F0502020204030204"/>
                <a:cs typeface="Calibri" panose="020F0502020204030204"/>
              </a:rPr>
            </a:br>
            <a:br>
              <a:rPr lang="en-US" altLang="en-US" sz="1800">
                <a:latin typeface="Calibri" panose="020F0502020204030204"/>
                <a:cs typeface="Calibri" panose="020F0502020204030204"/>
              </a:rPr>
            </a:br>
            <a:r>
              <a:rPr lang="en-US" altLang="en-US" sz="1800">
                <a:latin typeface="Calibri" panose="020F0502020204030204"/>
                <a:cs typeface="Calibri" panose="020F0502020204030204"/>
              </a:rPr>
              <a:t>Contributing to this prevailing research gap allows enhanced effectiveness of preparatory, responsive, and recovery strategies-thereby enhanced levels of resilience when facing an increased climatic uncertain future.</a:t>
            </a:r>
            <a:endParaRPr lang="en-US" altLang="en-US" sz="1800">
              <a:latin typeface="Calibri" panose="020F0502020204030204"/>
              <a:cs typeface="Calibri" panose="020F050202020403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3764" y="230505"/>
            <a:ext cx="10516870" cy="697230"/>
          </a:xfrm>
          <a:prstGeom prst="rect">
            <a:avLst/>
          </a:prstGeom>
        </p:spPr>
        <p:txBody>
          <a:bodyPr vert="horz" wrap="square" lIns="0" tIns="13335" rIns="0" bIns="0" rtlCol="0">
            <a:spAutoFit/>
          </a:bodyPr>
          <a:lstStyle/>
          <a:p>
            <a:pPr marL="80010">
              <a:lnSpc>
                <a:spcPct val="100000"/>
              </a:lnSpc>
              <a:spcBef>
                <a:spcPts val="105"/>
              </a:spcBef>
            </a:pPr>
            <a:r>
              <a:rPr dirty="0"/>
              <a:t>PROPOSED</a:t>
            </a:r>
            <a:r>
              <a:rPr spc="-114" dirty="0"/>
              <a:t> </a:t>
            </a:r>
            <a:r>
              <a:rPr spc="-10" dirty="0"/>
              <a:t>METHODOLOGY</a:t>
            </a:r>
            <a:endParaRPr spc="-10" dirty="0"/>
          </a:p>
        </p:txBody>
      </p:sp>
      <p:sp>
        <p:nvSpPr>
          <p:cNvPr id="3" name="object 3"/>
          <p:cNvSpPr txBox="1"/>
          <p:nvPr/>
        </p:nvSpPr>
        <p:spPr>
          <a:xfrm>
            <a:off x="533400" y="1295400"/>
            <a:ext cx="10891520" cy="5332730"/>
          </a:xfrm>
          <a:prstGeom prst="rect">
            <a:avLst/>
          </a:prstGeom>
        </p:spPr>
        <p:txBody>
          <a:bodyPr vert="horz" wrap="square" lIns="0" tIns="12700" rIns="0" bIns="0" rtlCol="0">
            <a:noAutofit/>
          </a:bodyPr>
          <a:lstStyle/>
          <a:p>
            <a:pPr marL="298450" marR="19050" indent="-285750">
              <a:lnSpc>
                <a:spcPct val="100000"/>
              </a:lnSpc>
              <a:spcBef>
                <a:spcPts val="100"/>
              </a:spcBef>
              <a:buFont typeface="Arial" panose="020B0604020202020204" pitchFamily="34" charset="0"/>
              <a:buChar char="•"/>
            </a:pPr>
            <a:r>
              <a:rPr lang="en-IN" altLang="en-US" sz="1800">
                <a:latin typeface="Calibri" panose="020F0502020204030204"/>
                <a:cs typeface="Calibri" panose="020F0502020204030204"/>
              </a:rPr>
              <a:t>Data Collection:</a:t>
            </a:r>
            <a:endParaRPr lang="en-IN" altLang="en-US" sz="1800">
              <a:latin typeface="Calibri" panose="020F0502020204030204"/>
              <a:cs typeface="Calibri" panose="020F0502020204030204"/>
            </a:endParaRPr>
          </a:p>
          <a:p>
            <a:pPr marL="12700" marR="19050">
              <a:lnSpc>
                <a:spcPct val="100000"/>
              </a:lnSpc>
              <a:spcBef>
                <a:spcPts val="100"/>
              </a:spcBef>
            </a:pPr>
            <a:r>
              <a:rPr lang="en-US" altLang="en-US" sz="1800">
                <a:latin typeface="Calibri" panose="020F0502020204030204"/>
                <a:cs typeface="Calibri" panose="020F0502020204030204"/>
              </a:rPr>
              <a:t>First come the tasks of data collection that are essential for the model. The dataset needs to be developed with information such as temperature, average rainfall in millimeters, and monthly distribution of rainfall; it can be sourced from a database online or by visiting government websites.</a:t>
            </a:r>
            <a:endParaRPr lang="en-US" altLang="en-US" sz="1800">
              <a:latin typeface="Calibri" panose="020F0502020204030204"/>
              <a:cs typeface="Calibri" panose="020F0502020204030204"/>
            </a:endParaRPr>
          </a:p>
          <a:p>
            <a:pPr marL="12700" marR="19050">
              <a:lnSpc>
                <a:spcPct val="100000"/>
              </a:lnSpc>
              <a:spcBef>
                <a:spcPts val="100"/>
              </a:spcBef>
            </a:pPr>
            <a:endParaRPr lang="en-US" altLang="en-US" sz="1800">
              <a:latin typeface="Calibri" panose="020F0502020204030204"/>
              <a:cs typeface="Calibri" panose="020F0502020204030204"/>
            </a:endParaRPr>
          </a:p>
          <a:p>
            <a:pPr marL="298450" marR="19050" indent="-285750">
              <a:lnSpc>
                <a:spcPct val="100000"/>
              </a:lnSpc>
              <a:spcBef>
                <a:spcPts val="100"/>
              </a:spcBef>
              <a:buFont typeface="Arial" panose="020B0604020202020204" pitchFamily="34" charset="0"/>
              <a:buChar char="•"/>
            </a:pPr>
            <a:r>
              <a:rPr lang="en-IN" altLang="en-US" sz="1800">
                <a:latin typeface="Calibri" panose="020F0502020204030204"/>
                <a:cs typeface="Calibri" panose="020F0502020204030204"/>
              </a:rPr>
              <a:t>Data Pre-processing:</a:t>
            </a:r>
            <a:endParaRPr lang="en-IN" altLang="en-US" sz="1800">
              <a:latin typeface="Calibri" panose="020F0502020204030204"/>
              <a:cs typeface="Calibri" panose="020F0502020204030204"/>
            </a:endParaRPr>
          </a:p>
          <a:p>
            <a:pPr marL="12700" marR="19050">
              <a:lnSpc>
                <a:spcPct val="100000"/>
              </a:lnSpc>
              <a:spcBef>
                <a:spcPts val="100"/>
              </a:spcBef>
            </a:pPr>
            <a:r>
              <a:rPr lang="en-US" altLang="en-US" sz="1800">
                <a:latin typeface="Calibri" panose="020F0502020204030204"/>
                <a:cs typeface="Calibri" panose="020F0502020204030204"/>
              </a:rPr>
              <a:t>After data acquisition, the steps involve the pre-processing of data to make it ready for analysis. This process entails refining and changing the data to make it most effective to be analyzed. In cleaning the data, duplicate values are removed, knowledge gaps are filled, and outliers are excluded that might have been introduced.</a:t>
            </a:r>
            <a:endParaRPr lang="en-US" altLang="en-US" sz="1800">
              <a:latin typeface="Calibri" panose="020F0502020204030204"/>
              <a:cs typeface="Calibri" panose="020F0502020204030204"/>
            </a:endParaRPr>
          </a:p>
          <a:p>
            <a:pPr marL="12700" marR="19050">
              <a:lnSpc>
                <a:spcPct val="100000"/>
              </a:lnSpc>
              <a:spcBef>
                <a:spcPts val="100"/>
              </a:spcBef>
            </a:pPr>
            <a:endParaRPr lang="en-US" altLang="en-US" sz="1800">
              <a:latin typeface="Calibri" panose="020F0502020204030204"/>
              <a:cs typeface="Calibri" panose="020F0502020204030204"/>
            </a:endParaRPr>
          </a:p>
          <a:p>
            <a:pPr marL="298450" marR="19050" indent="-285750">
              <a:lnSpc>
                <a:spcPct val="100000"/>
              </a:lnSpc>
              <a:spcBef>
                <a:spcPts val="100"/>
              </a:spcBef>
              <a:buFont typeface="Arial" panose="020B0604020202020204" pitchFamily="34" charset="0"/>
              <a:buChar char="•"/>
            </a:pPr>
            <a:r>
              <a:rPr lang="en-US" altLang="en-US" sz="1800">
                <a:latin typeface="Calibri" panose="020F0502020204030204"/>
                <a:cs typeface="Calibri" panose="020F0502020204030204"/>
              </a:rPr>
              <a:t>Data transformation</a:t>
            </a:r>
            <a:r>
              <a:rPr lang="en-IN" altLang="en-US" sz="1800">
                <a:latin typeface="Calibri" panose="020F0502020204030204"/>
                <a:cs typeface="Calibri" panose="020F0502020204030204"/>
              </a:rPr>
              <a:t>:</a:t>
            </a:r>
            <a:endParaRPr lang="en-IN" altLang="en-US" sz="1800">
              <a:latin typeface="Calibri" panose="020F0502020204030204"/>
              <a:cs typeface="Calibri" panose="020F0502020204030204"/>
            </a:endParaRPr>
          </a:p>
          <a:p>
            <a:pPr marL="12700" marR="19050">
              <a:lnSpc>
                <a:spcPct val="100000"/>
              </a:lnSpc>
              <a:spcBef>
                <a:spcPts val="100"/>
              </a:spcBef>
            </a:pPr>
            <a:r>
              <a:rPr lang="en-IN" altLang="en-US" sz="1800">
                <a:latin typeface="Calibri" panose="020F0502020204030204"/>
                <a:cs typeface="Calibri" panose="020F0502020204030204"/>
              </a:rPr>
              <a:t>It involves</a:t>
            </a:r>
            <a:r>
              <a:rPr lang="en-US" altLang="en-US" sz="1800">
                <a:latin typeface="Calibri" panose="020F0502020204030204"/>
                <a:cs typeface="Calibri" panose="020F0502020204030204"/>
              </a:rPr>
              <a:t> scaling features, encoding categorical variables, and generating new features when needed. For a deeper understanding of data transformation, you may want to read this article.</a:t>
            </a:r>
            <a:endParaRPr lang="en-US" altLang="en-US" sz="1800">
              <a:latin typeface="Calibri" panose="020F0502020204030204"/>
              <a:cs typeface="Calibri" panose="020F0502020204030204"/>
            </a:endParaRPr>
          </a:p>
          <a:p>
            <a:pPr marL="12700" marR="19050">
              <a:lnSpc>
                <a:spcPct val="100000"/>
              </a:lnSpc>
              <a:spcBef>
                <a:spcPts val="100"/>
              </a:spcBef>
            </a:pPr>
            <a:endParaRPr lang="en-US" altLang="en-US" sz="1800">
              <a:latin typeface="Calibri" panose="020F0502020204030204"/>
              <a:cs typeface="Calibri" panose="020F0502020204030204"/>
            </a:endParaRPr>
          </a:p>
          <a:p>
            <a:pPr marL="12700" marR="19050">
              <a:lnSpc>
                <a:spcPct val="100000"/>
              </a:lnSpc>
              <a:spcBef>
                <a:spcPts val="100"/>
              </a:spcBef>
            </a:pPr>
            <a:endParaRPr sz="1800">
              <a:latin typeface="Calibri" panose="020F0502020204030204"/>
              <a:cs typeface="Calibri" panose="020F0502020204030204"/>
            </a:endParaRPr>
          </a:p>
          <a:p>
            <a:pPr marL="12700" marR="19050">
              <a:lnSpc>
                <a:spcPct val="100000"/>
              </a:lnSpc>
              <a:spcBef>
                <a:spcPts val="100"/>
              </a:spcBef>
            </a:pPr>
            <a:endParaRPr sz="1800">
              <a:latin typeface="Calibri" panose="020F0502020204030204"/>
              <a:cs typeface="Calibri" panose="020F05020202040302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marL="80010">
              <a:lnSpc>
                <a:spcPct val="100000"/>
              </a:lnSpc>
              <a:spcBef>
                <a:spcPts val="105"/>
              </a:spcBef>
            </a:pPr>
            <a:r>
              <a:rPr dirty="0"/>
              <a:t>PROPOSED</a:t>
            </a:r>
            <a:r>
              <a:rPr spc="-114" dirty="0"/>
              <a:t> </a:t>
            </a:r>
            <a:r>
              <a:rPr spc="-10" dirty="0"/>
              <a:t>METHODOLOGY</a:t>
            </a:r>
            <a:endParaRPr spc="-10" dirty="0"/>
          </a:p>
        </p:txBody>
      </p:sp>
      <p:sp>
        <p:nvSpPr>
          <p:cNvPr id="3" name="object 3"/>
          <p:cNvSpPr txBox="1"/>
          <p:nvPr/>
        </p:nvSpPr>
        <p:spPr>
          <a:xfrm>
            <a:off x="838200" y="1438910"/>
            <a:ext cx="10745470" cy="3980180"/>
          </a:xfrm>
          <a:prstGeom prst="rect">
            <a:avLst/>
          </a:prstGeom>
        </p:spPr>
        <p:txBody>
          <a:bodyPr vert="horz" wrap="square" lIns="0" tIns="12700" rIns="0" bIns="0" rtlCol="0">
            <a:spAutoFit/>
          </a:bodyPr>
          <a:lstStyle/>
          <a:p>
            <a:pPr marL="285750" marR="19050" indent="-285750">
              <a:lnSpc>
                <a:spcPct val="100000"/>
              </a:lnSpc>
              <a:spcBef>
                <a:spcPts val="100"/>
              </a:spcBef>
              <a:buFont typeface="Arial" panose="020B0604020202020204" pitchFamily="34" charset="0"/>
              <a:buChar char="•"/>
            </a:pPr>
            <a:r>
              <a:rPr lang="en-IN" altLang="en-US" sz="1800">
                <a:latin typeface="Calibri" panose="020F0502020204030204"/>
                <a:cs typeface="Calibri" panose="020F0502020204030204"/>
                <a:sym typeface="+mn-ea"/>
              </a:rPr>
              <a:t>Feature Selection:</a:t>
            </a:r>
            <a:endParaRPr lang="en-IN" altLang="en-US" sz="1800">
              <a:latin typeface="Calibri" panose="020F0502020204030204"/>
              <a:cs typeface="Calibri" panose="020F0502020204030204"/>
            </a:endParaRPr>
          </a:p>
          <a:p>
            <a:pPr marR="19050">
              <a:lnSpc>
                <a:spcPct val="100000"/>
              </a:lnSpc>
              <a:spcBef>
                <a:spcPts val="100"/>
              </a:spcBef>
            </a:pPr>
            <a:r>
              <a:rPr lang="en-US" altLang="en-US" sz="1800">
                <a:latin typeface="Calibri" panose="020F0502020204030204"/>
                <a:cs typeface="Calibri" panose="020F0502020204030204"/>
                <a:sym typeface="+mn-ea"/>
              </a:rPr>
              <a:t>The next in the line of procedures is Feature Selection, which comes in where identifying the key attributes that will feature within the model scope takes centre stage. While at this step, we would want to detect the pertinent characteristic variables that keep a great stake in the variations of the target variable under inquiry.</a:t>
            </a:r>
            <a:endParaRPr lang="en-US" altLang="en-US" sz="1800">
              <a:latin typeface="Calibri" panose="020F0502020204030204"/>
              <a:cs typeface="Calibri" panose="020F0502020204030204"/>
              <a:sym typeface="+mn-ea"/>
            </a:endParaRPr>
          </a:p>
          <a:p>
            <a:pPr marR="19050">
              <a:lnSpc>
                <a:spcPct val="100000"/>
              </a:lnSpc>
              <a:spcBef>
                <a:spcPts val="100"/>
              </a:spcBef>
            </a:pPr>
            <a:endParaRPr sz="1800">
              <a:latin typeface="Calibri" panose="020F0502020204030204"/>
              <a:cs typeface="Calibri" panose="020F0502020204030204"/>
            </a:endParaRPr>
          </a:p>
          <a:p>
            <a:pPr marL="285750" marR="19050" indent="-285750">
              <a:lnSpc>
                <a:spcPct val="100000"/>
              </a:lnSpc>
              <a:spcBef>
                <a:spcPts val="100"/>
              </a:spcBef>
              <a:buFont typeface="Arial" panose="020B0604020202020204" pitchFamily="34" charset="0"/>
              <a:buChar char="•"/>
            </a:pPr>
            <a:r>
              <a:rPr lang="en-IN" altLang="en-US" sz="1800">
                <a:latin typeface="Calibri" panose="020F0502020204030204"/>
                <a:cs typeface="Calibri" panose="020F0502020204030204"/>
              </a:rPr>
              <a:t>Model selection:</a:t>
            </a:r>
            <a:endParaRPr lang="en-IN" altLang="en-US" sz="1800">
              <a:latin typeface="Calibri" panose="020F0502020204030204"/>
              <a:cs typeface="Calibri" panose="020F0502020204030204"/>
            </a:endParaRPr>
          </a:p>
          <a:p>
            <a:pPr marR="19050">
              <a:lnSpc>
                <a:spcPct val="100000"/>
              </a:lnSpc>
              <a:spcBef>
                <a:spcPts val="100"/>
              </a:spcBef>
            </a:pPr>
            <a:r>
              <a:rPr lang="en-US" altLang="en-US" sz="1800">
                <a:latin typeface="Calibri" panose="020F0502020204030204"/>
                <a:cs typeface="Calibri" panose="020F0502020204030204"/>
              </a:rPr>
              <a:t>With important features for the situation identified, there needs to come the choice of the model serving the purpose more efficiently. The selection of needed features was realized, then assessed by various machine learning algorithms performance in view: a linear regression,Random Forest</a:t>
            </a:r>
            <a:r>
              <a:rPr lang="en-IN" altLang="en-US" sz="1800">
                <a:latin typeface="Calibri" panose="020F0502020204030204"/>
                <a:cs typeface="Calibri" panose="020F0502020204030204"/>
              </a:rPr>
              <a:t> and </a:t>
            </a:r>
            <a:r>
              <a:rPr lang="en-US" altLang="en-IN" sz="1800">
                <a:latin typeface="Calibri" panose="020F0502020204030204"/>
                <a:cs typeface="Calibri" panose="020F0502020204030204"/>
              </a:rPr>
              <a:t>Support Vector Machine</a:t>
            </a:r>
            <a:r>
              <a:rPr lang="en-IN" altLang="en-US" sz="1800">
                <a:latin typeface="Calibri" panose="020F0502020204030204"/>
                <a:cs typeface="Calibri" panose="020F0502020204030204"/>
              </a:rPr>
              <a:t>.</a:t>
            </a:r>
            <a:endParaRPr lang="en-IN" altLang="en-US" sz="1800">
              <a:latin typeface="Calibri" panose="020F0502020204030204"/>
              <a:cs typeface="Calibri" panose="020F0502020204030204"/>
            </a:endParaRPr>
          </a:p>
          <a:p>
            <a:pPr marL="285750" marR="19050" indent="-285750">
              <a:lnSpc>
                <a:spcPct val="100000"/>
              </a:lnSpc>
              <a:spcBef>
                <a:spcPts val="100"/>
              </a:spcBef>
              <a:buFont typeface="Arial" panose="020B0604020202020204" pitchFamily="34" charset="0"/>
              <a:buChar char="•"/>
            </a:pPr>
            <a:endParaRPr lang="en-IN" altLang="en-US" sz="1800">
              <a:latin typeface="Calibri" panose="020F0502020204030204"/>
              <a:cs typeface="Calibri" panose="020F0502020204030204"/>
            </a:endParaRPr>
          </a:p>
          <a:p>
            <a:pPr marL="285750" marR="19050" indent="-285750">
              <a:lnSpc>
                <a:spcPct val="100000"/>
              </a:lnSpc>
              <a:spcBef>
                <a:spcPts val="100"/>
              </a:spcBef>
              <a:buFont typeface="Arial" panose="020B0604020202020204" pitchFamily="34" charset="0"/>
              <a:buChar char="•"/>
            </a:pPr>
            <a:r>
              <a:rPr lang="en-IN" altLang="en-US" sz="1800">
                <a:latin typeface="Calibri" panose="020F0502020204030204"/>
                <a:cs typeface="Calibri" panose="020F0502020204030204"/>
              </a:rPr>
              <a:t>Model evaluation:</a:t>
            </a:r>
            <a:endParaRPr lang="en-IN" altLang="en-US" sz="1800">
              <a:latin typeface="Calibri" panose="020F0502020204030204"/>
              <a:cs typeface="Calibri" panose="020F0502020204030204"/>
            </a:endParaRPr>
          </a:p>
          <a:p>
            <a:pPr marR="19050">
              <a:lnSpc>
                <a:spcPct val="100000"/>
              </a:lnSpc>
              <a:spcBef>
                <a:spcPts val="100"/>
              </a:spcBef>
            </a:pPr>
            <a:r>
              <a:rPr lang="en-US" altLang="en-US" sz="1800">
                <a:latin typeface="Calibri" panose="020F0502020204030204"/>
                <a:cs typeface="Calibri" panose="020F0502020204030204"/>
              </a:rPr>
              <a:t>After model selection comes model performance evaluation, which includes computation of the various metrics: RMSE, MAE, and MSE. Some measurements that were considered in this process were accuracy and precision, because this helps find a place it could be improved upon.</a:t>
            </a:r>
            <a:endParaRPr lang="en-US" altLang="en-US" sz="1800">
              <a:latin typeface="Calibri" panose="020F0502020204030204"/>
              <a:cs typeface="Calibri" panose="020F0502020204030204"/>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7564" y="230505"/>
            <a:ext cx="10516870" cy="676910"/>
          </a:xfrm>
        </p:spPr>
        <p:txBody>
          <a:bodyPr/>
          <a:p>
            <a:r>
              <a:rPr dirty="0">
                <a:sym typeface="+mn-ea"/>
              </a:rPr>
              <a:t>PROPOSED</a:t>
            </a:r>
            <a:r>
              <a:rPr spc="-114" dirty="0">
                <a:sym typeface="+mn-ea"/>
              </a:rPr>
              <a:t> </a:t>
            </a:r>
            <a:r>
              <a:rPr spc="-10" dirty="0">
                <a:sym typeface="+mn-ea"/>
              </a:rPr>
              <a:t>METHODOLOGY</a:t>
            </a:r>
            <a:endParaRPr lang="en-US"/>
          </a:p>
        </p:txBody>
      </p:sp>
      <p:sp>
        <p:nvSpPr>
          <p:cNvPr id="3" name="Text Placeholder 2"/>
          <p:cNvSpPr>
            <a:spLocks noGrp="1"/>
          </p:cNvSpPr>
          <p:nvPr>
            <p:ph type="body" idx="1"/>
          </p:nvPr>
        </p:nvSpPr>
        <p:spPr>
          <a:xfrm>
            <a:off x="342900" y="1396365"/>
            <a:ext cx="11483975" cy="2769870"/>
          </a:xfrm>
        </p:spPr>
        <p:txBody>
          <a:bodyPr/>
          <a:p>
            <a:pPr marL="285750" indent="-285750">
              <a:buFont typeface="Arial" panose="020B0604020202020204" pitchFamily="34" charset="0"/>
              <a:buChar char="•"/>
            </a:pPr>
            <a:r>
              <a:rPr lang="en-IN" altLang="en-US"/>
              <a:t>Hyperparameter tuning:</a:t>
            </a:r>
            <a:endParaRPr lang="en-IN" altLang="en-US"/>
          </a:p>
          <a:p>
            <a:r>
              <a:rPr lang="en-US" altLang="en-US"/>
              <a:t>a process that simply includes choosing such hyperparameters that this model can do its best toward meeting its objectives in terms of performance. Therefore, this optimum may be executed via different tactics; for example, grid search and random search are among these tactics.</a:t>
            </a:r>
            <a:endParaRPr lang="en-US" altLang="en-US"/>
          </a:p>
          <a:p>
            <a:endParaRPr lang="en-US" altLang="en-US"/>
          </a:p>
          <a:p>
            <a:pPr marL="285750" indent="-285750">
              <a:buFont typeface="Arial" panose="020B0604020202020204" pitchFamily="34" charset="0"/>
              <a:buChar char="•"/>
            </a:pPr>
            <a:r>
              <a:rPr lang="en-IN" altLang="en-US"/>
              <a:t>Deployment:</a:t>
            </a:r>
            <a:endParaRPr lang="en-IN" altLang="en-US"/>
          </a:p>
          <a:p>
            <a:r>
              <a:rPr lang="en-US" altLang="en-US"/>
              <a:t>The last stage, after the model is trained and tested, involves its deployment into the real world for practical applications. Deployment is done after all the previous steps are complete. In integrating the model into the real world, there is the possibility of doing it either through a web application or incorporating it into an existing system, making it flexible in terms of implementation. </a:t>
            </a:r>
            <a:endParaRPr lang="en-US"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87375" y="28271"/>
            <a:ext cx="11106150" cy="1252220"/>
          </a:xfrm>
          <a:prstGeom prst="rect">
            <a:avLst/>
          </a:prstGeom>
        </p:spPr>
        <p:txBody>
          <a:bodyPr vert="horz" wrap="square" lIns="0" tIns="215265" rIns="0" bIns="0" rtlCol="0">
            <a:spAutoFit/>
          </a:bodyPr>
          <a:lstStyle/>
          <a:p>
            <a:pPr marL="330200">
              <a:lnSpc>
                <a:spcPct val="100000"/>
              </a:lnSpc>
              <a:spcBef>
                <a:spcPts val="1695"/>
              </a:spcBef>
            </a:pPr>
            <a:r>
              <a:rPr spc="-10" dirty="0"/>
              <a:t>OBJECTIVES</a:t>
            </a:r>
            <a:endParaRPr spc="-10" dirty="0"/>
          </a:p>
          <a:p>
            <a:pPr marL="12700" marR="5080">
              <a:lnSpc>
                <a:spcPct val="100000"/>
              </a:lnSpc>
              <a:spcBef>
                <a:spcPts val="650"/>
              </a:spcBef>
            </a:pPr>
            <a:endParaRPr sz="1800">
              <a:latin typeface="Calibri" panose="020F0502020204030204"/>
              <a:cs typeface="Calibri" panose="020F0502020204030204"/>
            </a:endParaRPr>
          </a:p>
        </p:txBody>
      </p:sp>
      <p:sp>
        <p:nvSpPr>
          <p:cNvPr id="3" name="object 3"/>
          <p:cNvSpPr txBox="1"/>
          <p:nvPr/>
        </p:nvSpPr>
        <p:spPr>
          <a:xfrm>
            <a:off x="587375" y="1371599"/>
            <a:ext cx="11265535" cy="2556510"/>
          </a:xfrm>
          <a:prstGeom prst="rect">
            <a:avLst/>
          </a:prstGeom>
        </p:spPr>
        <p:txBody>
          <a:bodyPr vert="horz" wrap="square" lIns="0" tIns="12700" rIns="0" bIns="0" rtlCol="0">
            <a:spAutoFit/>
          </a:bodyPr>
          <a:lstStyle/>
          <a:p>
            <a:pPr marL="294640" marR="459105" indent="-285750">
              <a:lnSpc>
                <a:spcPct val="100000"/>
              </a:lnSpc>
              <a:spcBef>
                <a:spcPts val="100"/>
              </a:spcBef>
              <a:buSzPct val="94000"/>
              <a:buFont typeface="Arial" panose="020B0604020202020204" pitchFamily="34" charset="0"/>
              <a:buChar char="•"/>
              <a:tabLst>
                <a:tab pos="185420" algn="l"/>
              </a:tabLst>
            </a:pPr>
            <a:r>
              <a:rPr lang="en-US" altLang="en-US" sz="1800">
                <a:latin typeface="Calibri" panose="020F0502020204030204"/>
                <a:cs typeface="Calibri" panose="020F0502020204030204"/>
              </a:rPr>
              <a:t>The core purpose of the research study will be the use of machine learning in developing a model which can predict disasters at an early stage. </a:t>
            </a:r>
            <a:endParaRPr lang="en-US" altLang="en-US" sz="1800">
              <a:latin typeface="Calibri" panose="020F0502020204030204"/>
              <a:cs typeface="Calibri" panose="020F0502020204030204"/>
            </a:endParaRPr>
          </a:p>
          <a:p>
            <a:pPr marL="294640" marR="459105" indent="-285750">
              <a:lnSpc>
                <a:spcPct val="100000"/>
              </a:lnSpc>
              <a:spcBef>
                <a:spcPts val="100"/>
              </a:spcBef>
              <a:buSzPct val="94000"/>
              <a:buFont typeface="Arial" panose="020B0604020202020204" pitchFamily="34" charset="0"/>
              <a:buChar char="•"/>
              <a:tabLst>
                <a:tab pos="185420" algn="l"/>
              </a:tabLst>
            </a:pPr>
            <a:endParaRPr lang="en-US" altLang="en-US" sz="1800">
              <a:latin typeface="Calibri" panose="020F0502020204030204"/>
              <a:cs typeface="Calibri" panose="020F0502020204030204"/>
            </a:endParaRPr>
          </a:p>
          <a:p>
            <a:pPr marL="294640" marR="459105" indent="-285750">
              <a:lnSpc>
                <a:spcPct val="100000"/>
              </a:lnSpc>
              <a:spcBef>
                <a:spcPts val="100"/>
              </a:spcBef>
              <a:buSzPct val="94000"/>
              <a:buFont typeface="Arial" panose="020B0604020202020204" pitchFamily="34" charset="0"/>
              <a:buChar char="•"/>
              <a:tabLst>
                <a:tab pos="185420" algn="l"/>
              </a:tabLst>
            </a:pPr>
            <a:r>
              <a:rPr lang="en-US" altLang="en-US" sz="1800">
                <a:latin typeface="Calibri" panose="020F0502020204030204"/>
                <a:cs typeface="Calibri" panose="020F0502020204030204"/>
              </a:rPr>
              <a:t>The objective is to set up a base system that may use satellite data and various sources of data in predicting the probabilities and times of natural disasters. </a:t>
            </a:r>
            <a:endParaRPr lang="en-US" altLang="en-US" sz="1800">
              <a:latin typeface="Calibri" panose="020F0502020204030204"/>
              <a:cs typeface="Calibri" panose="020F0502020204030204"/>
            </a:endParaRPr>
          </a:p>
          <a:p>
            <a:pPr marL="294640" marR="459105" indent="-285750">
              <a:lnSpc>
                <a:spcPct val="100000"/>
              </a:lnSpc>
              <a:spcBef>
                <a:spcPts val="100"/>
              </a:spcBef>
              <a:buSzPct val="94000"/>
              <a:buFont typeface="Arial" panose="020B0604020202020204" pitchFamily="34" charset="0"/>
              <a:buChar char="•"/>
              <a:tabLst>
                <a:tab pos="185420" algn="l"/>
              </a:tabLst>
            </a:pPr>
            <a:endParaRPr lang="en-US" altLang="en-US" sz="1800">
              <a:latin typeface="Calibri" panose="020F0502020204030204"/>
              <a:cs typeface="Calibri" panose="020F0502020204030204"/>
            </a:endParaRPr>
          </a:p>
          <a:p>
            <a:pPr marL="294640" marR="459105" indent="-285750">
              <a:lnSpc>
                <a:spcPct val="100000"/>
              </a:lnSpc>
              <a:spcBef>
                <a:spcPts val="100"/>
              </a:spcBef>
              <a:buSzPct val="94000"/>
              <a:buFont typeface="Arial" panose="020B0604020202020204" pitchFamily="34" charset="0"/>
              <a:buChar char="•"/>
              <a:tabLst>
                <a:tab pos="185420" algn="l"/>
              </a:tabLst>
            </a:pPr>
            <a:r>
              <a:rPr lang="en-US" altLang="en-US" sz="1800">
                <a:latin typeface="Calibri" panose="020F0502020204030204"/>
                <a:cs typeface="Calibri" panose="020F0502020204030204"/>
              </a:rPr>
              <a:t>The enhanced base system can provide the possibility to extend its functions toward an early warning and decision support tool for disaster management agencies and other actors to take proper actions with a minimum level of losses in human lives in the case of a natural disaster.</a:t>
            </a:r>
            <a:endParaRPr lang="en-US" altLang="en-US" sz="1800">
              <a:latin typeface="Calibri" panose="020F0502020204030204"/>
              <a:cs typeface="Calibri" panose="020F0502020204030204"/>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04875" y="230352"/>
            <a:ext cx="4780915" cy="1367790"/>
          </a:xfrm>
          <a:prstGeom prst="rect">
            <a:avLst/>
          </a:prstGeom>
        </p:spPr>
        <p:txBody>
          <a:bodyPr vert="horz" wrap="square" lIns="0" tIns="13335" rIns="0" bIns="0" rtlCol="0">
            <a:spAutoFit/>
          </a:bodyPr>
          <a:lstStyle/>
          <a:p>
            <a:pPr marL="12700" marR="5080">
              <a:lnSpc>
                <a:spcPct val="100000"/>
              </a:lnSpc>
              <a:spcBef>
                <a:spcPts val="105"/>
              </a:spcBef>
            </a:pPr>
            <a:r>
              <a:rPr dirty="0"/>
              <a:t>SYSTEM</a:t>
            </a:r>
            <a:r>
              <a:rPr spc="-65" dirty="0"/>
              <a:t> </a:t>
            </a:r>
            <a:r>
              <a:rPr dirty="0"/>
              <a:t>DESIGN</a:t>
            </a:r>
            <a:r>
              <a:rPr spc="-55" dirty="0"/>
              <a:t> </a:t>
            </a:r>
            <a:r>
              <a:rPr spc="-25" dirty="0"/>
              <a:t>AND </a:t>
            </a:r>
            <a:r>
              <a:rPr spc="-10" dirty="0"/>
              <a:t>IMPLEMENTATION</a:t>
            </a:r>
            <a:endParaRPr spc="-10" dirty="0"/>
          </a:p>
        </p:txBody>
      </p:sp>
      <p:sp>
        <p:nvSpPr>
          <p:cNvPr id="3" name="object 3"/>
          <p:cNvSpPr txBox="1"/>
          <p:nvPr/>
        </p:nvSpPr>
        <p:spPr>
          <a:xfrm>
            <a:off x="857885" y="1753870"/>
            <a:ext cx="10898505" cy="4231640"/>
          </a:xfrm>
          <a:prstGeom prst="rect">
            <a:avLst/>
          </a:prstGeom>
        </p:spPr>
        <p:txBody>
          <a:bodyPr vert="horz" wrap="square" lIns="0" tIns="12700" rIns="0" bIns="0" rtlCol="0">
            <a:spAutoFit/>
          </a:bodyPr>
          <a:lstStyle/>
          <a:p>
            <a:pPr marL="298450" indent="-285750">
              <a:lnSpc>
                <a:spcPct val="100000"/>
              </a:lnSpc>
              <a:spcBef>
                <a:spcPts val="100"/>
              </a:spcBef>
              <a:buFont typeface="Arial" panose="020B0604020202020204" pitchFamily="34" charset="0"/>
              <a:buChar char="•"/>
            </a:pPr>
            <a:endParaRPr lang="en-US" altLang="en-US" sz="1800">
              <a:latin typeface="Calibri" panose="020F0502020204030204"/>
              <a:cs typeface="Calibri" panose="020F0502020204030204"/>
            </a:endParaRPr>
          </a:p>
          <a:p>
            <a:pPr marL="298450" indent="-285750" algn="just">
              <a:lnSpc>
                <a:spcPct val="150000"/>
              </a:lnSpc>
              <a:spcBef>
                <a:spcPts val="100"/>
              </a:spcBef>
              <a:buFont typeface="Arial" panose="020B0604020202020204" pitchFamily="34" charset="0"/>
              <a:buChar char="•"/>
            </a:pPr>
            <a:r>
              <a:rPr lang="en-US" altLang="en-US" sz="1800">
                <a:latin typeface="Calibri" panose="020F0502020204030204"/>
                <a:cs typeface="Calibri" panose="020F0502020204030204"/>
              </a:rPr>
              <a:t>The system architecture for the proactive disaster detection project is designed to provide an efficient and user-friendly solution. Users can input data through this interface and receive prediction results, such as rainfall predictions tables and maps.</a:t>
            </a:r>
            <a:endParaRPr lang="en-US" altLang="en-US" sz="1800">
              <a:latin typeface="Calibri" panose="020F0502020204030204"/>
              <a:cs typeface="Calibri" panose="020F0502020204030204"/>
            </a:endParaRPr>
          </a:p>
          <a:p>
            <a:pPr marL="298450" indent="-285750" algn="just">
              <a:lnSpc>
                <a:spcPct val="150000"/>
              </a:lnSpc>
              <a:spcBef>
                <a:spcPts val="100"/>
              </a:spcBef>
              <a:buFont typeface="Arial" panose="020B0604020202020204" pitchFamily="34" charset="0"/>
              <a:buChar char="•"/>
            </a:pPr>
            <a:endParaRPr lang="en-US" altLang="en-US" sz="1800">
              <a:latin typeface="Calibri" panose="020F0502020204030204"/>
              <a:cs typeface="Calibri" panose="020F0502020204030204"/>
            </a:endParaRPr>
          </a:p>
          <a:p>
            <a:pPr marL="298450" indent="-285750" algn="just">
              <a:lnSpc>
                <a:spcPct val="150000"/>
              </a:lnSpc>
              <a:spcBef>
                <a:spcPts val="100"/>
              </a:spcBef>
              <a:buFont typeface="Arial" panose="020B0604020202020204" pitchFamily="34" charset="0"/>
              <a:buChar char="•"/>
            </a:pPr>
            <a:r>
              <a:rPr lang="en-US" altLang="en-US" sz="1800">
                <a:latin typeface="Calibri" panose="020F0502020204030204"/>
                <a:cs typeface="Calibri" panose="020F0502020204030204"/>
              </a:rPr>
              <a:t> The input data undergoes a thorough data preprocessing pipeline that includes label encoding to convert categorical data into numerical format, dataset cleaning to handle missing values and outliers, feature selection to identify critical variables, and sorting the data chronologically by year for effective time-series analysis. This preprocessing ensures that the data is clean and ready for training.</a:t>
            </a:r>
            <a:endParaRPr lang="en-US" altLang="en-US" sz="1800">
              <a:latin typeface="Calibri" panose="020F0502020204030204"/>
              <a:cs typeface="Calibri" panose="020F0502020204030204"/>
            </a:endParaRPr>
          </a:p>
          <a:p>
            <a:pPr marL="12700">
              <a:lnSpc>
                <a:spcPct val="100000"/>
              </a:lnSpc>
              <a:spcBef>
                <a:spcPts val="100"/>
              </a:spcBef>
            </a:pPr>
            <a:endParaRPr lang="en-US" altLang="en-US" sz="1800">
              <a:latin typeface="Calibri" panose="020F0502020204030204"/>
              <a:cs typeface="Calibri" panose="020F0502020204030204"/>
            </a:endParaRPr>
          </a:p>
          <a:p>
            <a:pPr marL="12700">
              <a:lnSpc>
                <a:spcPct val="100000"/>
              </a:lnSpc>
              <a:spcBef>
                <a:spcPts val="100"/>
              </a:spcBef>
            </a:pPr>
            <a:endParaRPr lang="en-US" altLang="en-US" sz="1800">
              <a:latin typeface="Calibri" panose="020F0502020204030204"/>
              <a:cs typeface="Calibri" panose="020F0502020204030204"/>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04875" y="230352"/>
            <a:ext cx="4780915" cy="690245"/>
          </a:xfrm>
          <a:prstGeom prst="rect">
            <a:avLst/>
          </a:prstGeom>
        </p:spPr>
        <p:txBody>
          <a:bodyPr vert="horz" wrap="square" lIns="0" tIns="13335" rIns="0" bIns="0" rtlCol="0">
            <a:spAutoFit/>
          </a:bodyPr>
          <a:lstStyle/>
          <a:p>
            <a:pPr marL="12700" marR="5080">
              <a:lnSpc>
                <a:spcPct val="100000"/>
              </a:lnSpc>
              <a:spcBef>
                <a:spcPts val="105"/>
              </a:spcBef>
            </a:pPr>
            <a:endParaRPr spc="-10" dirty="0"/>
          </a:p>
        </p:txBody>
      </p:sp>
      <p:sp>
        <p:nvSpPr>
          <p:cNvPr id="3" name="object 3"/>
          <p:cNvSpPr txBox="1"/>
          <p:nvPr/>
        </p:nvSpPr>
        <p:spPr>
          <a:xfrm>
            <a:off x="609600" y="1066799"/>
            <a:ext cx="10834370" cy="3651885"/>
          </a:xfrm>
          <a:prstGeom prst="rect">
            <a:avLst/>
          </a:prstGeom>
        </p:spPr>
        <p:txBody>
          <a:bodyPr vert="horz" wrap="square" lIns="0" tIns="12700" rIns="0" bIns="0" rtlCol="0">
            <a:spAutoFit/>
          </a:bodyPr>
          <a:lstStyle/>
          <a:p>
            <a:pPr marL="285750" indent="-285750" algn="just">
              <a:lnSpc>
                <a:spcPct val="150000"/>
              </a:lnSpc>
              <a:spcBef>
                <a:spcPts val="100"/>
              </a:spcBef>
              <a:buFont typeface="Arial" panose="020B0604020202020204" pitchFamily="34" charset="0"/>
              <a:buChar char="•"/>
            </a:pPr>
            <a:r>
              <a:rPr lang="en-US" altLang="en-US" sz="1800">
                <a:latin typeface="Calibri" panose="020F0502020204030204"/>
                <a:cs typeface="Calibri" panose="020F0502020204030204"/>
                <a:sym typeface="+mn-ea"/>
              </a:rPr>
              <a:t>The processed data is then passed into the model training phase, where machine learning models are developed. This phase involves hyperparameter tuning to optimize the models, model evaluation using performance metrics such as MAE, MSE, and RMSE, and selecting the appropriate loss function to minimize prediction errors. </a:t>
            </a:r>
            <a:endParaRPr lang="en-US" altLang="en-US" sz="1800">
              <a:latin typeface="Calibri" panose="020F0502020204030204"/>
              <a:cs typeface="Calibri" panose="020F0502020204030204"/>
            </a:endParaRPr>
          </a:p>
          <a:p>
            <a:pPr marL="285750" indent="-285750">
              <a:lnSpc>
                <a:spcPct val="100000"/>
              </a:lnSpc>
              <a:spcBef>
                <a:spcPts val="100"/>
              </a:spcBef>
              <a:buFont typeface="Arial" panose="020B0604020202020204" pitchFamily="34" charset="0"/>
              <a:buChar char="•"/>
            </a:pPr>
            <a:endParaRPr lang="en-US" altLang="en-US" sz="1800">
              <a:latin typeface="Calibri" panose="020F0502020204030204"/>
              <a:cs typeface="Calibri" panose="020F0502020204030204"/>
            </a:endParaRPr>
          </a:p>
          <a:p>
            <a:pPr marL="285750" indent="-285750" algn="just">
              <a:lnSpc>
                <a:spcPct val="150000"/>
              </a:lnSpc>
              <a:spcBef>
                <a:spcPts val="100"/>
              </a:spcBef>
              <a:buFont typeface="Arial" panose="020B0604020202020204" pitchFamily="34" charset="0"/>
              <a:buChar char="•"/>
            </a:pPr>
            <a:endParaRPr lang="en-US" altLang="en-US" sz="1800">
              <a:latin typeface="Calibri" panose="020F0502020204030204"/>
              <a:cs typeface="Calibri" panose="020F0502020204030204"/>
              <a:sym typeface="+mn-ea"/>
            </a:endParaRPr>
          </a:p>
          <a:p>
            <a:pPr marL="285750" indent="-285750" algn="just">
              <a:lnSpc>
                <a:spcPct val="150000"/>
              </a:lnSpc>
              <a:spcBef>
                <a:spcPts val="100"/>
              </a:spcBef>
              <a:buFont typeface="Arial" panose="020B0604020202020204" pitchFamily="34" charset="0"/>
              <a:buChar char="•"/>
            </a:pPr>
            <a:r>
              <a:rPr lang="en-US" altLang="en-US" sz="1800">
                <a:latin typeface="Calibri" panose="020F0502020204030204"/>
                <a:cs typeface="Calibri" panose="020F0502020204030204"/>
                <a:sym typeface="+mn-ea"/>
              </a:rPr>
              <a:t>During the prediction phase, the trained models utilize the input data from the to generate prediction results. These outputs are displayed back to the user through a website, providing a seamless user experience. This architecture ensures a smooth workflow from data input and preprocessing to model training and accurate predictions, making it a robust system for disaster detection.</a:t>
            </a:r>
            <a:endParaRPr sz="1800">
              <a:latin typeface="Calibri" panose="020F0502020204030204"/>
              <a:cs typeface="Calibri" panose="020F0502020204030204"/>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marL="80010">
              <a:lnSpc>
                <a:spcPct val="100000"/>
              </a:lnSpc>
              <a:spcBef>
                <a:spcPts val="105"/>
              </a:spcBef>
            </a:pPr>
            <a:r>
              <a:rPr dirty="0"/>
              <a:t>TIMELINE</a:t>
            </a:r>
            <a:r>
              <a:rPr spc="-35" dirty="0"/>
              <a:t> </a:t>
            </a:r>
            <a:r>
              <a:rPr dirty="0"/>
              <a:t>FOR</a:t>
            </a:r>
            <a:r>
              <a:rPr spc="-35" dirty="0"/>
              <a:t> </a:t>
            </a:r>
            <a:r>
              <a:rPr dirty="0"/>
              <a:t>THE</a:t>
            </a:r>
            <a:r>
              <a:rPr spc="-35" dirty="0"/>
              <a:t> </a:t>
            </a:r>
            <a:r>
              <a:rPr spc="-10" dirty="0"/>
              <a:t>PROJECT</a:t>
            </a:r>
            <a:endParaRPr spc="-10" dirty="0"/>
          </a:p>
        </p:txBody>
      </p:sp>
      <p:sp>
        <p:nvSpPr>
          <p:cNvPr id="3" name="object 3"/>
          <p:cNvSpPr txBox="1"/>
          <p:nvPr/>
        </p:nvSpPr>
        <p:spPr>
          <a:xfrm>
            <a:off x="609600" y="1338580"/>
            <a:ext cx="10984865" cy="4596130"/>
          </a:xfrm>
          <a:prstGeom prst="rect">
            <a:avLst/>
          </a:prstGeom>
        </p:spPr>
        <p:txBody>
          <a:bodyPr vert="horz" wrap="square" lIns="0" tIns="12700" rIns="0" bIns="0" rtlCol="0">
            <a:spAutoFit/>
          </a:bodyPr>
          <a:lstStyle/>
          <a:p>
            <a:pPr marL="298450" marR="5080" indent="-285750" algn="just">
              <a:lnSpc>
                <a:spcPct val="150000"/>
              </a:lnSpc>
              <a:spcBef>
                <a:spcPts val="100"/>
              </a:spcBef>
              <a:buFont typeface="Arial" panose="020B0604020202020204" pitchFamily="34" charset="0"/>
              <a:buChar char="•"/>
            </a:pPr>
            <a:r>
              <a:rPr sz="1800" dirty="0">
                <a:latin typeface="Calibri" panose="020F0502020204030204"/>
                <a:cs typeface="Calibri" panose="020F0502020204030204"/>
              </a:rPr>
              <a:t>Planning</a:t>
            </a:r>
            <a:r>
              <a:rPr sz="1800" spc="-60" dirty="0">
                <a:latin typeface="Calibri" panose="020F0502020204030204"/>
                <a:cs typeface="Calibri" panose="020F0502020204030204"/>
              </a:rPr>
              <a:t> </a:t>
            </a:r>
            <a:r>
              <a:rPr sz="1800" dirty="0">
                <a:latin typeface="Calibri" panose="020F0502020204030204"/>
                <a:cs typeface="Calibri" panose="020F0502020204030204"/>
              </a:rPr>
              <a:t>Phase</a:t>
            </a:r>
            <a:r>
              <a:rPr sz="1800" spc="-60" dirty="0">
                <a:latin typeface="Calibri" panose="020F0502020204030204"/>
                <a:cs typeface="Calibri" panose="020F0502020204030204"/>
              </a:rPr>
              <a:t> </a:t>
            </a:r>
            <a:r>
              <a:rPr sz="1800" dirty="0">
                <a:latin typeface="Calibri" panose="020F0502020204030204"/>
                <a:cs typeface="Calibri" panose="020F0502020204030204"/>
              </a:rPr>
              <a:t>(August</a:t>
            </a:r>
            <a:r>
              <a:rPr sz="1800" spc="-55" dirty="0">
                <a:latin typeface="Calibri" panose="020F0502020204030204"/>
                <a:cs typeface="Calibri" panose="020F0502020204030204"/>
              </a:rPr>
              <a:t> </a:t>
            </a:r>
            <a:r>
              <a:rPr sz="1800" dirty="0">
                <a:latin typeface="Calibri" panose="020F0502020204030204"/>
                <a:cs typeface="Calibri" panose="020F0502020204030204"/>
              </a:rPr>
              <a:t>2024):</a:t>
            </a:r>
            <a:r>
              <a:rPr sz="1800" spc="-60" dirty="0">
                <a:latin typeface="Calibri" panose="020F0502020204030204"/>
                <a:cs typeface="Calibri" panose="020F0502020204030204"/>
              </a:rPr>
              <a:t> </a:t>
            </a:r>
            <a:r>
              <a:rPr lang="en-US" altLang="en-US" sz="1800">
                <a:latin typeface="Calibri" panose="020F0502020204030204"/>
                <a:cs typeface="Calibri" panose="020F0502020204030204"/>
              </a:rPr>
              <a:t>Beg</a:t>
            </a:r>
            <a:r>
              <a:rPr lang="en-IN" altLang="en-US" sz="1800">
                <a:latin typeface="Calibri" panose="020F0502020204030204"/>
                <a:cs typeface="Calibri" panose="020F0502020204030204"/>
              </a:rPr>
              <a:t>a</a:t>
            </a:r>
            <a:r>
              <a:rPr lang="en-US" altLang="en-US" sz="1800">
                <a:latin typeface="Calibri" panose="020F0502020204030204"/>
                <a:cs typeface="Calibri" panose="020F0502020204030204"/>
              </a:rPr>
              <a:t>n with requirements analysis for a proactive disaster detection system.</a:t>
            </a:r>
            <a:endParaRPr lang="en-US" altLang="en-US" sz="1800">
              <a:latin typeface="Calibri" panose="020F0502020204030204"/>
              <a:cs typeface="Calibri" panose="020F0502020204030204"/>
            </a:endParaRPr>
          </a:p>
          <a:p>
            <a:pPr marL="298450" marR="5080" indent="-285750" algn="just">
              <a:lnSpc>
                <a:spcPct val="150000"/>
              </a:lnSpc>
              <a:spcBef>
                <a:spcPts val="100"/>
              </a:spcBef>
              <a:buFont typeface="Arial" panose="020B0604020202020204" pitchFamily="34" charset="0"/>
              <a:buChar char="•"/>
            </a:pPr>
            <a:r>
              <a:rPr lang="en-US" altLang="en-US" sz="1800">
                <a:latin typeface="Calibri" panose="020F0502020204030204"/>
                <a:cs typeface="Calibri" panose="020F0502020204030204"/>
              </a:rPr>
              <a:t>Conduct</a:t>
            </a:r>
            <a:r>
              <a:rPr lang="en-IN" altLang="en-US" sz="1800">
                <a:latin typeface="Calibri" panose="020F0502020204030204"/>
                <a:cs typeface="Calibri" panose="020F0502020204030204"/>
              </a:rPr>
              <a:t>ing</a:t>
            </a:r>
            <a:r>
              <a:rPr lang="en-US" altLang="en-US" sz="1800">
                <a:latin typeface="Calibri" panose="020F0502020204030204"/>
                <a:cs typeface="Calibri" panose="020F0502020204030204"/>
              </a:rPr>
              <a:t> a detailed literature review to identify existing gaps in disaster prediction methods.</a:t>
            </a:r>
            <a:endParaRPr lang="en-US" altLang="en-US" sz="1800">
              <a:latin typeface="Calibri" panose="020F0502020204030204"/>
              <a:cs typeface="Calibri" panose="020F0502020204030204"/>
            </a:endParaRPr>
          </a:p>
          <a:p>
            <a:pPr marL="298450" marR="85725" indent="-285750" algn="just">
              <a:lnSpc>
                <a:spcPct val="150000"/>
              </a:lnSpc>
              <a:spcBef>
                <a:spcPts val="2160"/>
              </a:spcBef>
              <a:buFont typeface="Arial" panose="020B0604020202020204" pitchFamily="34" charset="0"/>
              <a:buChar char="•"/>
            </a:pPr>
            <a:r>
              <a:rPr sz="1800" dirty="0">
                <a:latin typeface="Calibri" panose="020F0502020204030204"/>
                <a:cs typeface="Calibri" panose="020F0502020204030204"/>
              </a:rPr>
              <a:t>Data</a:t>
            </a:r>
            <a:r>
              <a:rPr sz="1800" spc="-55" dirty="0">
                <a:latin typeface="Calibri" panose="020F0502020204030204"/>
                <a:cs typeface="Calibri" panose="020F0502020204030204"/>
              </a:rPr>
              <a:t> </a:t>
            </a:r>
            <a:r>
              <a:rPr sz="1800" dirty="0">
                <a:latin typeface="Calibri" panose="020F0502020204030204"/>
                <a:cs typeface="Calibri" panose="020F0502020204030204"/>
              </a:rPr>
              <a:t>Collection</a:t>
            </a:r>
            <a:r>
              <a:rPr sz="1800" spc="-55" dirty="0">
                <a:latin typeface="Calibri" panose="020F0502020204030204"/>
                <a:cs typeface="Calibri" panose="020F0502020204030204"/>
              </a:rPr>
              <a:t> </a:t>
            </a:r>
            <a:r>
              <a:rPr sz="1800" dirty="0">
                <a:latin typeface="Calibri" panose="020F0502020204030204"/>
                <a:cs typeface="Calibri" panose="020F0502020204030204"/>
              </a:rPr>
              <a:t>and</a:t>
            </a:r>
            <a:r>
              <a:rPr sz="1800" spc="-55" dirty="0">
                <a:latin typeface="Calibri" panose="020F0502020204030204"/>
                <a:cs typeface="Calibri" panose="020F0502020204030204"/>
              </a:rPr>
              <a:t> </a:t>
            </a:r>
            <a:r>
              <a:rPr sz="1800" dirty="0">
                <a:latin typeface="Calibri" panose="020F0502020204030204"/>
                <a:cs typeface="Calibri" panose="020F0502020204030204"/>
              </a:rPr>
              <a:t>Design</a:t>
            </a:r>
            <a:r>
              <a:rPr sz="1800" spc="-55" dirty="0">
                <a:latin typeface="Calibri" panose="020F0502020204030204"/>
                <a:cs typeface="Calibri" panose="020F0502020204030204"/>
              </a:rPr>
              <a:t> </a:t>
            </a:r>
            <a:r>
              <a:rPr sz="1800" dirty="0">
                <a:latin typeface="Calibri" panose="020F0502020204030204"/>
                <a:cs typeface="Calibri" panose="020F0502020204030204"/>
              </a:rPr>
              <a:t>Phase</a:t>
            </a:r>
            <a:r>
              <a:rPr sz="1800" spc="-55" dirty="0">
                <a:latin typeface="Calibri" panose="020F0502020204030204"/>
                <a:cs typeface="Calibri" panose="020F0502020204030204"/>
              </a:rPr>
              <a:t> </a:t>
            </a:r>
            <a:r>
              <a:rPr sz="1800" spc="-10" dirty="0">
                <a:latin typeface="Calibri" panose="020F0502020204030204"/>
                <a:cs typeface="Calibri" panose="020F0502020204030204"/>
              </a:rPr>
              <a:t>(Mid-</a:t>
            </a:r>
            <a:r>
              <a:rPr sz="1800" dirty="0">
                <a:latin typeface="Calibri" panose="020F0502020204030204"/>
                <a:cs typeface="Calibri" panose="020F0502020204030204"/>
              </a:rPr>
              <a:t>September</a:t>
            </a:r>
            <a:r>
              <a:rPr sz="1800" spc="-50" dirty="0">
                <a:latin typeface="Calibri" panose="020F0502020204030204"/>
                <a:cs typeface="Calibri" panose="020F0502020204030204"/>
              </a:rPr>
              <a:t> </a:t>
            </a:r>
            <a:r>
              <a:rPr sz="1800" dirty="0">
                <a:latin typeface="Calibri" panose="020F0502020204030204"/>
                <a:cs typeface="Calibri" panose="020F0502020204030204"/>
              </a:rPr>
              <a:t>2024):</a:t>
            </a:r>
            <a:r>
              <a:rPr lang="en-US" altLang="en-US" sz="1800">
                <a:latin typeface="Calibri" panose="020F0502020204030204"/>
                <a:cs typeface="Calibri" panose="020F0502020204030204"/>
              </a:rPr>
              <a:t>Gather</a:t>
            </a:r>
            <a:r>
              <a:rPr lang="en-IN" altLang="en-US" sz="1800">
                <a:latin typeface="Calibri" panose="020F0502020204030204"/>
                <a:cs typeface="Calibri" panose="020F0502020204030204"/>
              </a:rPr>
              <a:t>ing</a:t>
            </a:r>
            <a:r>
              <a:rPr lang="en-US" altLang="en-US" sz="1800">
                <a:latin typeface="Calibri" panose="020F0502020204030204"/>
                <a:cs typeface="Calibri" panose="020F0502020204030204"/>
              </a:rPr>
              <a:t> diverse datasets, including rainfall, temperature, and GIS data</a:t>
            </a:r>
            <a:r>
              <a:rPr lang="en-IN" altLang="en-US" sz="1800">
                <a:latin typeface="Calibri" panose="020F0502020204030204"/>
                <a:cs typeface="Calibri" panose="020F0502020204030204"/>
              </a:rPr>
              <a:t> and d</a:t>
            </a:r>
            <a:r>
              <a:rPr lang="en-US" altLang="en-US" sz="1800">
                <a:latin typeface="Calibri" panose="020F0502020204030204"/>
                <a:cs typeface="Calibri" panose="020F0502020204030204"/>
              </a:rPr>
              <a:t>esign</a:t>
            </a:r>
            <a:r>
              <a:rPr lang="en-IN" altLang="en-US" sz="1800">
                <a:latin typeface="Calibri" panose="020F0502020204030204"/>
                <a:cs typeface="Calibri" panose="020F0502020204030204"/>
              </a:rPr>
              <a:t>ing</a:t>
            </a:r>
            <a:r>
              <a:rPr lang="en-US" altLang="en-US" sz="1800">
                <a:latin typeface="Calibri" panose="020F0502020204030204"/>
                <a:cs typeface="Calibri" panose="020F0502020204030204"/>
              </a:rPr>
              <a:t> the system architecture to support time-series forecasting and disaster detection.</a:t>
            </a:r>
            <a:r>
              <a:rPr lang="en-IN" altLang="en-US" sz="1800">
                <a:latin typeface="Calibri" panose="020F0502020204030204"/>
                <a:cs typeface="Calibri" panose="020F0502020204030204"/>
              </a:rPr>
              <a:t> Also </a:t>
            </a:r>
            <a:r>
              <a:rPr lang="en-US" altLang="en-US" sz="1800">
                <a:latin typeface="Calibri" panose="020F0502020204030204"/>
                <a:cs typeface="Calibri" panose="020F0502020204030204"/>
              </a:rPr>
              <a:t>Incorporat</a:t>
            </a:r>
            <a:r>
              <a:rPr lang="en-IN" altLang="en-US" sz="1800">
                <a:latin typeface="Calibri" panose="020F0502020204030204"/>
                <a:cs typeface="Calibri" panose="020F0502020204030204"/>
              </a:rPr>
              <a:t>ing</a:t>
            </a:r>
            <a:r>
              <a:rPr lang="en-US" altLang="en-US" sz="1800">
                <a:latin typeface="Calibri" panose="020F0502020204030204"/>
                <a:cs typeface="Calibri" panose="020F0502020204030204"/>
              </a:rPr>
              <a:t> environmental and historical disaster data into the model framework.</a:t>
            </a:r>
            <a:endParaRPr lang="en-US" altLang="en-US" sz="1800">
              <a:latin typeface="Calibri" panose="020F0502020204030204"/>
              <a:cs typeface="Calibri" panose="020F0502020204030204"/>
            </a:endParaRPr>
          </a:p>
          <a:p>
            <a:pPr marL="298450" marR="85725" indent="-285750" algn="just">
              <a:lnSpc>
                <a:spcPct val="150000"/>
              </a:lnSpc>
              <a:spcBef>
                <a:spcPts val="2160"/>
              </a:spcBef>
              <a:buFont typeface="Arial" panose="020B0604020202020204" pitchFamily="34" charset="0"/>
              <a:buChar char="•"/>
            </a:pPr>
            <a:r>
              <a:rPr sz="1800" dirty="0">
                <a:latin typeface="Calibri" panose="020F0502020204030204"/>
                <a:cs typeface="Calibri" panose="020F0502020204030204"/>
              </a:rPr>
              <a:t>Development</a:t>
            </a:r>
            <a:r>
              <a:rPr sz="1800" spc="-70" dirty="0">
                <a:latin typeface="Calibri" panose="020F0502020204030204"/>
                <a:cs typeface="Calibri" panose="020F0502020204030204"/>
              </a:rPr>
              <a:t> </a:t>
            </a:r>
            <a:r>
              <a:rPr sz="1800" dirty="0">
                <a:latin typeface="Calibri" panose="020F0502020204030204"/>
                <a:cs typeface="Calibri" panose="020F0502020204030204"/>
              </a:rPr>
              <a:t>Phase</a:t>
            </a:r>
            <a:r>
              <a:rPr sz="1800" spc="-70" dirty="0">
                <a:latin typeface="Calibri" panose="020F0502020204030204"/>
                <a:cs typeface="Calibri" panose="020F0502020204030204"/>
              </a:rPr>
              <a:t> </a:t>
            </a:r>
            <a:r>
              <a:rPr sz="1800" dirty="0">
                <a:latin typeface="Calibri" panose="020F0502020204030204"/>
                <a:cs typeface="Calibri" panose="020F0502020204030204"/>
              </a:rPr>
              <a:t>(October</a:t>
            </a:r>
            <a:r>
              <a:rPr sz="1800" spc="-65" dirty="0">
                <a:latin typeface="Calibri" panose="020F0502020204030204"/>
                <a:cs typeface="Calibri" panose="020F0502020204030204"/>
              </a:rPr>
              <a:t> </a:t>
            </a:r>
            <a:r>
              <a:rPr sz="1800" dirty="0">
                <a:latin typeface="Calibri" panose="020F0502020204030204"/>
                <a:cs typeface="Calibri" panose="020F0502020204030204"/>
              </a:rPr>
              <a:t>2024):</a:t>
            </a:r>
            <a:r>
              <a:rPr sz="1800" spc="-70" dirty="0">
                <a:latin typeface="Calibri" panose="020F0502020204030204"/>
                <a:cs typeface="Calibri" panose="020F0502020204030204"/>
              </a:rPr>
              <a:t> </a:t>
            </a:r>
            <a:r>
              <a:rPr sz="1800" spc="-50" dirty="0">
                <a:latin typeface="Calibri" panose="020F0502020204030204"/>
                <a:cs typeface="Calibri" panose="020F0502020204030204"/>
                <a:sym typeface="+mn-ea"/>
              </a:rPr>
              <a:t> </a:t>
            </a:r>
            <a:r>
              <a:rPr lang="en-US" altLang="en-US" sz="1800">
                <a:latin typeface="Calibri" panose="020F0502020204030204"/>
                <a:cs typeface="Calibri" panose="020F0502020204030204"/>
                <a:sym typeface="+mn-ea"/>
              </a:rPr>
              <a:t>Implement</a:t>
            </a:r>
            <a:r>
              <a:rPr lang="en-IN" altLang="en-US" sz="1800">
                <a:latin typeface="Calibri" panose="020F0502020204030204"/>
                <a:cs typeface="Calibri" panose="020F0502020204030204"/>
                <a:sym typeface="+mn-ea"/>
              </a:rPr>
              <a:t>ing</a:t>
            </a:r>
            <a:r>
              <a:rPr lang="en-US" altLang="en-US" sz="1800">
                <a:latin typeface="Calibri" panose="020F0502020204030204"/>
                <a:cs typeface="Calibri" panose="020F0502020204030204"/>
                <a:sym typeface="+mn-ea"/>
              </a:rPr>
              <a:t> machine learning algorithms (SARIMA, LSTM, Linear Regression) for disaster prediction</a:t>
            </a:r>
            <a:r>
              <a:rPr lang="en-IN" altLang="en-US" sz="1800">
                <a:latin typeface="Calibri" panose="020F0502020204030204"/>
                <a:cs typeface="Calibri" panose="020F0502020204030204"/>
                <a:sym typeface="+mn-ea"/>
              </a:rPr>
              <a:t> and d</a:t>
            </a:r>
            <a:r>
              <a:rPr lang="en-US" altLang="en-US" sz="1800">
                <a:latin typeface="Calibri" panose="020F0502020204030204"/>
                <a:cs typeface="Calibri" panose="020F0502020204030204"/>
                <a:sym typeface="+mn-ea"/>
              </a:rPr>
              <a:t>evelop</a:t>
            </a:r>
            <a:r>
              <a:rPr lang="en-IN" altLang="en-US" sz="1800">
                <a:latin typeface="Calibri" panose="020F0502020204030204"/>
                <a:cs typeface="Calibri" panose="020F0502020204030204"/>
                <a:sym typeface="+mn-ea"/>
              </a:rPr>
              <a:t>ing</a:t>
            </a:r>
            <a:r>
              <a:rPr lang="en-US" altLang="en-US" sz="1800">
                <a:latin typeface="Calibri" panose="020F0502020204030204"/>
                <a:cs typeface="Calibri" panose="020F0502020204030204"/>
                <a:sym typeface="+mn-ea"/>
              </a:rPr>
              <a:t> preprocessing pipelines for data cleaning, feature selection, and scaling.</a:t>
            </a:r>
            <a:endParaRPr sz="1800">
              <a:latin typeface="Calibri" panose="020F0502020204030204"/>
              <a:cs typeface="Calibri" panose="020F0502020204030204"/>
            </a:endParaRPr>
          </a:p>
          <a:p>
            <a:pPr marL="12700" marR="671195" algn="just">
              <a:lnSpc>
                <a:spcPct val="150000"/>
              </a:lnSpc>
              <a:spcBef>
                <a:spcPts val="2160"/>
              </a:spcBef>
            </a:pPr>
            <a:endParaRPr lang="en-US" altLang="en-US" sz="1800">
              <a:latin typeface="Calibri" panose="020F0502020204030204"/>
              <a:cs typeface="Calibri" panose="020F0502020204030204"/>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Text Placeholder 2"/>
          <p:cNvSpPr>
            <a:spLocks noGrp="1"/>
          </p:cNvSpPr>
          <p:nvPr>
            <p:ph type="body" idx="1"/>
          </p:nvPr>
        </p:nvSpPr>
        <p:spPr>
          <a:xfrm>
            <a:off x="609600" y="1143000"/>
            <a:ext cx="11483975" cy="2353945"/>
          </a:xfrm>
        </p:spPr>
        <p:txBody>
          <a:bodyPr/>
          <a:p>
            <a:pPr marL="285750" marR="671195" indent="-285750">
              <a:lnSpc>
                <a:spcPct val="150000"/>
              </a:lnSpc>
              <a:spcBef>
                <a:spcPts val="2160"/>
              </a:spcBef>
              <a:buFont typeface="Arial" panose="020B0604020202020204" pitchFamily="34" charset="0"/>
              <a:buChar char="•"/>
            </a:pPr>
            <a:r>
              <a:rPr dirty="0">
                <a:sym typeface="+mn-ea"/>
              </a:rPr>
              <a:t>Testing</a:t>
            </a:r>
            <a:r>
              <a:rPr spc="-40" dirty="0">
                <a:sym typeface="+mn-ea"/>
              </a:rPr>
              <a:t> </a:t>
            </a:r>
            <a:r>
              <a:rPr dirty="0">
                <a:sym typeface="+mn-ea"/>
              </a:rPr>
              <a:t>Phase</a:t>
            </a:r>
            <a:r>
              <a:rPr spc="-40" dirty="0">
                <a:sym typeface="+mn-ea"/>
              </a:rPr>
              <a:t> </a:t>
            </a:r>
            <a:r>
              <a:rPr dirty="0">
                <a:sym typeface="+mn-ea"/>
              </a:rPr>
              <a:t>(October</a:t>
            </a:r>
            <a:r>
              <a:rPr spc="-35" dirty="0">
                <a:sym typeface="+mn-ea"/>
              </a:rPr>
              <a:t> </a:t>
            </a:r>
            <a:r>
              <a:rPr dirty="0">
                <a:sym typeface="+mn-ea"/>
              </a:rPr>
              <a:t>to</a:t>
            </a:r>
            <a:r>
              <a:rPr spc="-40" dirty="0">
                <a:sym typeface="+mn-ea"/>
              </a:rPr>
              <a:t> </a:t>
            </a:r>
            <a:r>
              <a:rPr spc="-10" dirty="0">
                <a:sym typeface="+mn-ea"/>
              </a:rPr>
              <a:t>Mid-</a:t>
            </a:r>
            <a:r>
              <a:rPr dirty="0">
                <a:sym typeface="+mn-ea"/>
              </a:rPr>
              <a:t>November</a:t>
            </a:r>
            <a:r>
              <a:rPr spc="-35" dirty="0">
                <a:sym typeface="+mn-ea"/>
              </a:rPr>
              <a:t> </a:t>
            </a:r>
            <a:r>
              <a:rPr dirty="0">
                <a:sym typeface="+mn-ea"/>
              </a:rPr>
              <a:t>2024):</a:t>
            </a:r>
            <a:r>
              <a:rPr spc="-40" dirty="0">
                <a:sym typeface="+mn-ea"/>
              </a:rPr>
              <a:t> </a:t>
            </a:r>
            <a:r>
              <a:rPr lang="en-US" altLang="en-US">
                <a:sym typeface="+mn-ea"/>
              </a:rPr>
              <a:t>Conduct</a:t>
            </a:r>
            <a:r>
              <a:rPr lang="en-IN" altLang="en-US">
                <a:sym typeface="+mn-ea"/>
              </a:rPr>
              <a:t>ed</a:t>
            </a:r>
            <a:r>
              <a:rPr lang="en-US" altLang="en-US">
                <a:sym typeface="+mn-ea"/>
              </a:rPr>
              <a:t> rigorous validation using metrics such as MAE, MSE, and RMSE</a:t>
            </a:r>
            <a:r>
              <a:rPr lang="en-IN" altLang="en-US">
                <a:sym typeface="+mn-ea"/>
              </a:rPr>
              <a:t> and c</a:t>
            </a:r>
            <a:r>
              <a:rPr lang="en-US" altLang="en-US">
                <a:sym typeface="+mn-ea"/>
              </a:rPr>
              <a:t>ompare</a:t>
            </a:r>
            <a:r>
              <a:rPr lang="en-IN" altLang="en-US">
                <a:sym typeface="+mn-ea"/>
              </a:rPr>
              <a:t>d</a:t>
            </a:r>
            <a:r>
              <a:rPr lang="en-US" altLang="en-US">
                <a:sym typeface="+mn-ea"/>
              </a:rPr>
              <a:t> the performance of different models to ensure optimal accuracy and reliability.</a:t>
            </a:r>
            <a:endParaRPr lang="en-US" altLang="en-US">
              <a:latin typeface="Calibri" panose="020F0502020204030204"/>
              <a:cs typeface="Calibri" panose="020F0502020204030204"/>
            </a:endParaRPr>
          </a:p>
          <a:p>
            <a:pPr marL="285750" marR="574040" indent="-285750">
              <a:lnSpc>
                <a:spcPct val="150000"/>
              </a:lnSpc>
              <a:spcBef>
                <a:spcPts val="2160"/>
              </a:spcBef>
              <a:buFont typeface="Arial" panose="020B0604020202020204" pitchFamily="34" charset="0"/>
              <a:buChar char="•"/>
            </a:pPr>
            <a:r>
              <a:rPr spc="-10" dirty="0">
                <a:sym typeface="+mn-ea"/>
              </a:rPr>
              <a:t>Documentation</a:t>
            </a:r>
            <a:r>
              <a:rPr spc="-35" dirty="0">
                <a:sym typeface="+mn-ea"/>
              </a:rPr>
              <a:t> </a:t>
            </a:r>
            <a:r>
              <a:rPr dirty="0">
                <a:sym typeface="+mn-ea"/>
              </a:rPr>
              <a:t>Phase</a:t>
            </a:r>
            <a:r>
              <a:rPr spc="-30" dirty="0">
                <a:sym typeface="+mn-ea"/>
              </a:rPr>
              <a:t> </a:t>
            </a:r>
            <a:r>
              <a:rPr dirty="0">
                <a:sym typeface="+mn-ea"/>
              </a:rPr>
              <a:t>(December</a:t>
            </a:r>
            <a:r>
              <a:rPr spc="-25" dirty="0">
                <a:sym typeface="+mn-ea"/>
              </a:rPr>
              <a:t> </a:t>
            </a:r>
            <a:r>
              <a:rPr dirty="0">
                <a:sym typeface="+mn-ea"/>
              </a:rPr>
              <a:t>2024):</a:t>
            </a:r>
            <a:r>
              <a:rPr spc="-30" dirty="0">
                <a:sym typeface="+mn-ea"/>
              </a:rPr>
              <a:t> </a:t>
            </a:r>
            <a:r>
              <a:rPr lang="en-US" altLang="en-US">
                <a:sym typeface="+mn-ea"/>
              </a:rPr>
              <a:t>A comprehensive analysis of results was performed, highlighting key insights and outcomes</a:t>
            </a:r>
            <a:r>
              <a:rPr lang="en-IN" altLang="en-US">
                <a:sym typeface="+mn-ea"/>
              </a:rPr>
              <a:t>. </a:t>
            </a:r>
            <a:r>
              <a:rPr lang="en-US" altLang="en-US">
                <a:sym typeface="+mn-ea"/>
              </a:rPr>
              <a:t>The methodology, system design, evaluation metrics, and results were documented in detail.</a:t>
            </a:r>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3400" y="189230"/>
            <a:ext cx="7298055" cy="697230"/>
          </a:xfrm>
          <a:prstGeom prst="rect">
            <a:avLst/>
          </a:prstGeom>
        </p:spPr>
        <p:txBody>
          <a:bodyPr vert="horz" wrap="square" lIns="0" tIns="13335" rIns="0" bIns="0" rtlCol="0">
            <a:spAutoFit/>
          </a:bodyPr>
          <a:lstStyle/>
          <a:p>
            <a:pPr marL="12700">
              <a:lnSpc>
                <a:spcPct val="100000"/>
              </a:lnSpc>
              <a:spcBef>
                <a:spcPts val="105"/>
              </a:spcBef>
            </a:pPr>
            <a:r>
              <a:rPr dirty="0"/>
              <a:t>OUTCOMES/RESULTS</a:t>
            </a:r>
            <a:r>
              <a:rPr spc="-114" dirty="0"/>
              <a:t> </a:t>
            </a:r>
            <a:r>
              <a:rPr spc="-10" dirty="0"/>
              <a:t>OBTAINED</a:t>
            </a:r>
            <a:endParaRPr spc="-10" dirty="0"/>
          </a:p>
        </p:txBody>
      </p:sp>
      <p:sp>
        <p:nvSpPr>
          <p:cNvPr id="3" name="object 3"/>
          <p:cNvSpPr txBox="1">
            <a:spLocks noGrp="1"/>
          </p:cNvSpPr>
          <p:nvPr>
            <p:ph type="body" idx="1"/>
          </p:nvPr>
        </p:nvSpPr>
        <p:spPr>
          <a:xfrm>
            <a:off x="342900" y="1396365"/>
            <a:ext cx="11483975" cy="4357370"/>
          </a:xfrm>
          <a:prstGeom prst="rect">
            <a:avLst/>
          </a:prstGeom>
        </p:spPr>
        <p:txBody>
          <a:bodyPr vert="horz" wrap="square" lIns="0" tIns="12700" rIns="0" bIns="0" rtlCol="0">
            <a:spAutoFit/>
          </a:bodyPr>
          <a:lstStyle/>
          <a:p>
            <a:pPr marL="12700" marR="5080" indent="-3810" algn="just">
              <a:lnSpc>
                <a:spcPct val="150000"/>
              </a:lnSpc>
              <a:spcBef>
                <a:spcPts val="100"/>
              </a:spcBef>
              <a:buSzPct val="94000"/>
              <a:buAutoNum type="arabicPeriod"/>
              <a:tabLst>
                <a:tab pos="185420" algn="l"/>
              </a:tabLst>
            </a:pPr>
            <a:r>
              <a:rPr lang="en-US" altLang="en-US" spc="-10" dirty="0"/>
              <a:t>The project undertaken is about the development of a rainfall prediction system using different machine learning algorithms, namely Linear Regression, Random Forest, Support Vector Machine, Seasonal Auto Regression Integration Moving Average (ARIMA), and Long Short Term Memory (LSTM). The work started with the loading of the labeled dataset that contained relevant features and color-coded labels signifying different intensities of rainfall. It was followed by the splitting of the dataset into training and testing sets to allow both model training and testing.</a:t>
            </a:r>
            <a:endParaRPr lang="en-US" altLang="en-US" spc="-10" dirty="0"/>
          </a:p>
          <a:p>
            <a:pPr marL="12700" marR="5080" indent="-3810" algn="just">
              <a:lnSpc>
                <a:spcPct val="150000"/>
              </a:lnSpc>
              <a:spcBef>
                <a:spcPts val="100"/>
              </a:spcBef>
              <a:buSzPct val="94000"/>
              <a:buAutoNum type="arabicPeriod"/>
              <a:tabLst>
                <a:tab pos="185420" algn="l"/>
              </a:tabLst>
            </a:pPr>
            <a:endParaRPr lang="en-US" altLang="en-US" spc="-10" dirty="0"/>
          </a:p>
          <a:p>
            <a:pPr marL="12700" marR="5080" indent="-3810" algn="just">
              <a:lnSpc>
                <a:spcPct val="150000"/>
              </a:lnSpc>
              <a:spcBef>
                <a:spcPts val="100"/>
              </a:spcBef>
              <a:buSzPct val="94000"/>
              <a:buAutoNum type="arabicPeriod"/>
              <a:tabLst>
                <a:tab pos="185420" algn="l"/>
              </a:tabLst>
            </a:pPr>
            <a:r>
              <a:rPr lang="en-US" altLang="en-US" spc="-10" dirty="0"/>
              <a:t>Each of the machine learning algorithms was thereafter trained independently using their different strengths in pattern understanding of the data. Further, the test set was used for predictions, and then the performance for each model was checked using the MSE, RMSE, and MAE metrics from the sklearn-metrics library.</a:t>
            </a:r>
            <a:endParaRPr lang="en-US" altLang="en-US" spc="-10" dirty="0"/>
          </a:p>
          <a:p>
            <a:pPr marL="12700" marR="5080" indent="-3810">
              <a:lnSpc>
                <a:spcPct val="100000"/>
              </a:lnSpc>
              <a:spcBef>
                <a:spcPts val="100"/>
              </a:spcBef>
              <a:buSzPct val="94000"/>
              <a:buAutoNum type="arabicPeriod"/>
              <a:tabLst>
                <a:tab pos="185420" algn="l"/>
              </a:tabLst>
            </a:pPr>
            <a:endParaRPr lang="en-US" altLang="en-US" spc="-10" dirty="0"/>
          </a:p>
          <a:p>
            <a:pPr marL="8890" marR="5080" indent="0">
              <a:lnSpc>
                <a:spcPct val="100000"/>
              </a:lnSpc>
              <a:spcBef>
                <a:spcPts val="100"/>
              </a:spcBef>
              <a:buSzPct val="94000"/>
              <a:buNone/>
              <a:tabLst>
                <a:tab pos="185420" algn="l"/>
              </a:tabLst>
            </a:pPr>
            <a:endParaRPr lang="en-US" altLang="en-US" spc="-1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Text Placeholder 2"/>
          <p:cNvSpPr>
            <a:spLocks noGrp="1"/>
          </p:cNvSpPr>
          <p:nvPr>
            <p:ph type="body" idx="1"/>
          </p:nvPr>
        </p:nvSpPr>
        <p:spPr>
          <a:xfrm>
            <a:off x="342900" y="1396365"/>
            <a:ext cx="11483975" cy="2908300"/>
          </a:xfrm>
        </p:spPr>
        <p:txBody>
          <a:bodyPr/>
          <a:p>
            <a:pPr algn="just">
              <a:lnSpc>
                <a:spcPct val="150000"/>
              </a:lnSpc>
            </a:pPr>
            <a:r>
              <a:rPr lang="en-US" altLang="en-US"/>
              <a:t>3. The Random Forest model, which was used in the system, outperformed other models and resulted in a notable MSE (3309.159), RMSE (57.525), and MAE (37.977). Linear Regression, while capable, exhibited comparatively lower accuracy in this specific context.</a:t>
            </a:r>
            <a:endParaRPr lang="en-US" altLang="en-US"/>
          </a:p>
          <a:p>
            <a:pPr algn="just">
              <a:lnSpc>
                <a:spcPct val="150000"/>
              </a:lnSpc>
            </a:pPr>
            <a:endParaRPr lang="en-US" altLang="en-US"/>
          </a:p>
          <a:p>
            <a:pPr algn="just">
              <a:lnSpc>
                <a:spcPct val="150000"/>
              </a:lnSpc>
            </a:pPr>
            <a:r>
              <a:rPr lang="en-US" altLang="en-US"/>
              <a:t>4.  The inclusion of LSTM and SARIMA significantly improved the model's predictive power, allowing for more accurate and reliable forecasts for the years 2016 to 2025</a:t>
            </a:r>
            <a:endParaRPr lang="en-US" altLang="en-US"/>
          </a:p>
          <a:p>
            <a:pPr algn="just">
              <a:lnSpc>
                <a:spcPct val="150000"/>
              </a:lnSpc>
            </a:pPr>
            <a:endParaRPr lang="en-US"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marL="80010">
              <a:lnSpc>
                <a:spcPct val="100000"/>
              </a:lnSpc>
              <a:spcBef>
                <a:spcPts val="105"/>
              </a:spcBef>
            </a:pPr>
            <a:r>
              <a:rPr spc="-10" dirty="0"/>
              <a:t>CONCLUSION</a:t>
            </a:r>
            <a:endParaRPr spc="-10" dirty="0"/>
          </a:p>
        </p:txBody>
      </p:sp>
      <p:sp>
        <p:nvSpPr>
          <p:cNvPr id="3" name="object 3"/>
          <p:cNvSpPr txBox="1">
            <a:spLocks noGrp="1"/>
          </p:cNvSpPr>
          <p:nvPr>
            <p:ph type="body" idx="1"/>
          </p:nvPr>
        </p:nvSpPr>
        <p:spPr>
          <a:xfrm>
            <a:off x="342900" y="1143000"/>
            <a:ext cx="11483975" cy="4218940"/>
          </a:xfrm>
          <a:prstGeom prst="rect">
            <a:avLst/>
          </a:prstGeom>
        </p:spPr>
        <p:txBody>
          <a:bodyPr vert="horz" wrap="square" lIns="0" tIns="12700" rIns="0" bIns="0" rtlCol="0">
            <a:spAutoFit/>
          </a:bodyPr>
          <a:lstStyle/>
          <a:p>
            <a:pPr marL="173355" marR="125095" algn="just">
              <a:lnSpc>
                <a:spcPct val="150000"/>
              </a:lnSpc>
              <a:spcBef>
                <a:spcPts val="100"/>
              </a:spcBef>
            </a:pPr>
            <a:r>
              <a:rPr lang="en-US" altLang="en-US" spc="-10" dirty="0"/>
              <a:t>In brief, the performance of the results of the proposed machine learning early disaster detection approach proved promising. </a:t>
            </a:r>
            <a:r>
              <a:rPr lang="en-US" altLang="en-US">
                <a:sym typeface="+mn-ea"/>
              </a:rPr>
              <a:t>The Random Forest model, which was used in the system, outperformed other models and resulted in a notable MSE (3309.159), RMSE (57.525), and MAE (37.977). Linear Regression, while capable, exhibited comparatively lower accuracy in this specific context.</a:t>
            </a:r>
            <a:endParaRPr lang="en-US" altLang="en-US" spc="-10" dirty="0"/>
          </a:p>
          <a:p>
            <a:pPr marL="173355" marR="125095" algn="just">
              <a:lnSpc>
                <a:spcPct val="150000"/>
              </a:lnSpc>
              <a:spcBef>
                <a:spcPts val="100"/>
              </a:spcBef>
            </a:pPr>
            <a:endParaRPr lang="en-US" altLang="en-US" spc="-10" dirty="0"/>
          </a:p>
          <a:p>
            <a:pPr marL="173355" marR="125095" algn="just">
              <a:lnSpc>
                <a:spcPct val="150000"/>
              </a:lnSpc>
              <a:spcBef>
                <a:spcPts val="100"/>
              </a:spcBef>
            </a:pPr>
            <a:r>
              <a:rPr lang="en-US" altLang="en-US" spc="-10" dirty="0"/>
              <a:t>A system that could detect high probabilities of large-scale natural disasters and dynamically model post-disaster spread would have strong potential to reduce disaster risks and improve resilience. In this regard, early warning and decision support could be instrumental in minimizing damage and saving lives during any natural catastrophe.</a:t>
            </a:r>
            <a:endParaRPr lang="en-US" altLang="en-US" spc="-10" dirty="0"/>
          </a:p>
          <a:p>
            <a:pPr marL="173355" marR="125095" algn="just">
              <a:lnSpc>
                <a:spcPct val="150000"/>
              </a:lnSpc>
              <a:spcBef>
                <a:spcPts val="100"/>
              </a:spcBef>
            </a:pPr>
            <a:endParaRPr lang="en-US" altLang="en-US" spc="-10" dirty="0"/>
          </a:p>
          <a:p>
            <a:pPr marL="173355" marR="125095" algn="just">
              <a:lnSpc>
                <a:spcPct val="150000"/>
              </a:lnSpc>
              <a:spcBef>
                <a:spcPts val="100"/>
              </a:spcBef>
            </a:pPr>
            <a:endParaRPr lang="en-US" altLang="en-US" spc="-1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Text Placeholder 2"/>
          <p:cNvSpPr>
            <a:spLocks noGrp="1"/>
          </p:cNvSpPr>
          <p:nvPr>
            <p:ph type="body" idx="1"/>
          </p:nvPr>
        </p:nvSpPr>
        <p:spPr>
          <a:xfrm>
            <a:off x="342900" y="914400"/>
            <a:ext cx="11483975" cy="3236595"/>
          </a:xfrm>
        </p:spPr>
        <p:txBody>
          <a:bodyPr/>
          <a:p>
            <a:pPr marL="173355" marR="125095" algn="just">
              <a:lnSpc>
                <a:spcPct val="150000"/>
              </a:lnSpc>
              <a:spcBef>
                <a:spcPts val="100"/>
              </a:spcBef>
            </a:pPr>
            <a:r>
              <a:rPr lang="en-US" altLang="en-US" spc="-10" dirty="0">
                <a:sym typeface="+mn-ea"/>
              </a:rPr>
              <a:t>It is a possible development based on processing satellite data and machine learning connected with simulations modeling. Every design of such a system shall be focused on issues such as scaling up and adaptability, to various forms of natural disaster occurrences and, accordingly, to different geographical areas of Earth.</a:t>
            </a:r>
            <a:endParaRPr lang="en-US" altLang="en-US" spc="-10" dirty="0"/>
          </a:p>
          <a:p>
            <a:pPr marL="173355" marR="125095" algn="just">
              <a:lnSpc>
                <a:spcPct val="150000"/>
              </a:lnSpc>
              <a:spcBef>
                <a:spcPts val="100"/>
              </a:spcBef>
            </a:pPr>
            <a:r>
              <a:rPr lang="en-US" altLang="en-US" spc="-10" dirty="0">
                <a:sym typeface="+mn-ea"/>
              </a:rPr>
              <a:t>Key advantages of implementing such a system include:</a:t>
            </a:r>
            <a:endParaRPr lang="en-US" altLang="en-US" spc="-10" dirty="0"/>
          </a:p>
          <a:p>
            <a:pPr marL="173355" marR="125095" algn="just">
              <a:lnSpc>
                <a:spcPct val="150000"/>
              </a:lnSpc>
              <a:spcBef>
                <a:spcPts val="100"/>
              </a:spcBef>
            </a:pPr>
            <a:r>
              <a:rPr lang="en-US" altLang="en-US" spc="-10" dirty="0">
                <a:sym typeface="+mn-ea"/>
              </a:rPr>
              <a:t>• Early warning capabilities </a:t>
            </a:r>
            <a:endParaRPr lang="en-US" altLang="en-US" spc="-10" dirty="0"/>
          </a:p>
          <a:p>
            <a:pPr marL="173355" marR="125095" algn="just">
              <a:lnSpc>
                <a:spcPct val="150000"/>
              </a:lnSpc>
              <a:spcBef>
                <a:spcPts val="100"/>
              </a:spcBef>
            </a:pPr>
            <a:r>
              <a:rPr lang="en-US" altLang="en-US" spc="-10" dirty="0">
                <a:sym typeface="+mn-ea"/>
              </a:rPr>
              <a:t>• Improved disaster management </a:t>
            </a:r>
            <a:endParaRPr lang="en-US" altLang="en-US" spc="-10" dirty="0">
              <a:sym typeface="+mn-ea"/>
            </a:endParaRPr>
          </a:p>
          <a:p>
            <a:pPr marL="173355" marR="125095" algn="just">
              <a:lnSpc>
                <a:spcPct val="150000"/>
              </a:lnSpc>
              <a:spcBef>
                <a:spcPts val="100"/>
              </a:spcBef>
            </a:pPr>
            <a:r>
              <a:rPr lang="en-US" altLang="en-US" spc="-10" dirty="0">
                <a:sym typeface="+mn-ea"/>
              </a:rPr>
              <a:t>• Reduced damage and loss of life.</a:t>
            </a:r>
            <a:endParaRPr lang="en-US" altLang="en-US" spc="-10" dirty="0"/>
          </a:p>
          <a:p>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marL="80010">
              <a:lnSpc>
                <a:spcPct val="100000"/>
              </a:lnSpc>
              <a:spcBef>
                <a:spcPts val="105"/>
              </a:spcBef>
            </a:pPr>
            <a:r>
              <a:rPr spc="-10" dirty="0"/>
              <a:t>REFERENCES</a:t>
            </a:r>
            <a:endParaRPr spc="-10" dirty="0"/>
          </a:p>
        </p:txBody>
      </p:sp>
      <p:sp>
        <p:nvSpPr>
          <p:cNvPr id="3" name="object 3"/>
          <p:cNvSpPr txBox="1"/>
          <p:nvPr/>
        </p:nvSpPr>
        <p:spPr>
          <a:xfrm>
            <a:off x="629919" y="1195704"/>
            <a:ext cx="10339070" cy="3967480"/>
          </a:xfrm>
          <a:prstGeom prst="rect">
            <a:avLst/>
          </a:prstGeom>
        </p:spPr>
        <p:txBody>
          <a:bodyPr vert="horz" wrap="square" lIns="0" tIns="12700" rIns="0" bIns="0" rtlCol="0">
            <a:spAutoFit/>
          </a:bodyPr>
          <a:lstStyle/>
          <a:p>
            <a:pPr marL="185420" indent="-176530">
              <a:lnSpc>
                <a:spcPct val="100000"/>
              </a:lnSpc>
              <a:spcBef>
                <a:spcPts val="100"/>
              </a:spcBef>
              <a:buSzPct val="94000"/>
              <a:buAutoNum type="arabicPeriod"/>
              <a:tabLst>
                <a:tab pos="185420" algn="l"/>
              </a:tabLst>
            </a:pPr>
            <a:r>
              <a:rPr lang="en-US" altLang="en-US" sz="1800">
                <a:latin typeface="Calibri" panose="020F0502020204030204"/>
                <a:cs typeface="Calibri" panose="020F0502020204030204"/>
              </a:rPr>
              <a:t>Amezquita-Sanchez J., Valtierra-Rodriguez M., Adeli H. Current efforts for prediction and assessment of natural disasters: Earthquakes, tsunamis, volcanic eruptions, hurricanes, tornados, and floods. Sci. Iran. 2017;24:2645–2664. doi: 10.24200/sci.2017.4589. [CrossRef] [Google Scholar]</a:t>
            </a:r>
            <a:endParaRPr lang="en-US" altLang="en-US" sz="1800">
              <a:latin typeface="Calibri" panose="020F0502020204030204"/>
              <a:cs typeface="Calibri" panose="020F0502020204030204"/>
            </a:endParaRPr>
          </a:p>
          <a:p>
            <a:pPr marL="185420" indent="-176530">
              <a:lnSpc>
                <a:spcPct val="100000"/>
              </a:lnSpc>
              <a:spcBef>
                <a:spcPts val="100"/>
              </a:spcBef>
              <a:buSzPct val="94000"/>
              <a:buAutoNum type="arabicPeriod"/>
              <a:tabLst>
                <a:tab pos="185420" algn="l"/>
              </a:tabLst>
            </a:pPr>
            <a:endParaRPr lang="en-US" altLang="en-US" sz="1800">
              <a:latin typeface="Calibri" panose="020F0502020204030204"/>
              <a:cs typeface="Calibri" panose="020F0502020204030204"/>
            </a:endParaRPr>
          </a:p>
          <a:p>
            <a:pPr marL="185420" indent="-176530">
              <a:lnSpc>
                <a:spcPct val="100000"/>
              </a:lnSpc>
              <a:spcBef>
                <a:spcPts val="100"/>
              </a:spcBef>
              <a:buSzPct val="94000"/>
              <a:buAutoNum type="arabicPeriod"/>
              <a:tabLst>
                <a:tab pos="185420" algn="l"/>
              </a:tabLst>
            </a:pPr>
            <a:r>
              <a:rPr lang="en-US" altLang="en-US" sz="1800">
                <a:latin typeface="Calibri" panose="020F0502020204030204"/>
                <a:cs typeface="Calibri" panose="020F0502020204030204"/>
              </a:rPr>
              <a:t>Zhang X.Y., Li X., Lin X. The data mining technology of particle swarm optimization algorithm in earthquake prediction. Adv. Mater. Res. 2014;989–994:1570–1573. doi: 10.4028/www.scientific.net/AMR.989-994.1570. [CrossRef] [Google Scholar]</a:t>
            </a:r>
            <a:endParaRPr lang="en-US" altLang="en-US" sz="1800">
              <a:latin typeface="Calibri" panose="020F0502020204030204"/>
              <a:cs typeface="Calibri" panose="020F0502020204030204"/>
            </a:endParaRPr>
          </a:p>
          <a:p>
            <a:pPr marL="185420" indent="-176530">
              <a:lnSpc>
                <a:spcPct val="100000"/>
              </a:lnSpc>
              <a:spcBef>
                <a:spcPts val="100"/>
              </a:spcBef>
              <a:buSzPct val="94000"/>
              <a:buAutoNum type="arabicPeriod"/>
              <a:tabLst>
                <a:tab pos="185420" algn="l"/>
              </a:tabLst>
            </a:pPr>
            <a:endParaRPr lang="en-US" altLang="en-US" sz="1800">
              <a:latin typeface="Calibri" panose="020F0502020204030204"/>
              <a:cs typeface="Calibri" panose="020F0502020204030204"/>
            </a:endParaRPr>
          </a:p>
          <a:p>
            <a:pPr marL="185420" indent="-176530">
              <a:lnSpc>
                <a:spcPct val="100000"/>
              </a:lnSpc>
              <a:spcBef>
                <a:spcPts val="100"/>
              </a:spcBef>
              <a:buSzPct val="94000"/>
              <a:buAutoNum type="arabicPeriod"/>
              <a:tabLst>
                <a:tab pos="185420" algn="l"/>
              </a:tabLst>
            </a:pPr>
            <a:r>
              <a:rPr lang="en-US" altLang="en-US" sz="1800">
                <a:latin typeface="Calibri" panose="020F0502020204030204"/>
                <a:cs typeface="Calibri" panose="020F0502020204030204"/>
              </a:rPr>
              <a:t>Adeli H., Panakkat A. A probabilistic neural network for earthquake magnitude prediction. Neural Netw. 2009;22:1018–1024. doi: 10.1016/j.neunet.2009.05.003. [PubMed] [CrossRef] [Google Scholar]</a:t>
            </a:r>
            <a:endParaRPr lang="en-US" altLang="en-US" sz="1800">
              <a:latin typeface="Calibri" panose="020F0502020204030204"/>
              <a:cs typeface="Calibri" panose="020F0502020204030204"/>
            </a:endParaRPr>
          </a:p>
          <a:p>
            <a:pPr marL="185420" indent="-176530">
              <a:lnSpc>
                <a:spcPct val="100000"/>
              </a:lnSpc>
              <a:spcBef>
                <a:spcPts val="100"/>
              </a:spcBef>
              <a:buSzPct val="94000"/>
              <a:buAutoNum type="arabicPeriod"/>
              <a:tabLst>
                <a:tab pos="185420" algn="l"/>
              </a:tabLst>
            </a:pPr>
            <a:endParaRPr lang="en-US" altLang="en-US" sz="1800">
              <a:latin typeface="Calibri" panose="020F0502020204030204"/>
              <a:cs typeface="Calibri" panose="020F0502020204030204"/>
            </a:endParaRPr>
          </a:p>
          <a:p>
            <a:pPr marL="185420" indent="-176530">
              <a:lnSpc>
                <a:spcPct val="100000"/>
              </a:lnSpc>
              <a:spcBef>
                <a:spcPts val="100"/>
              </a:spcBef>
              <a:buSzPct val="94000"/>
              <a:buAutoNum type="arabicPeriod"/>
              <a:tabLst>
                <a:tab pos="185420" algn="l"/>
              </a:tabLst>
            </a:pPr>
            <a:r>
              <a:rPr lang="en-US" altLang="en-US" sz="1800">
                <a:latin typeface="Calibri" panose="020F0502020204030204"/>
                <a:cs typeface="Calibri" panose="020F0502020204030204"/>
              </a:rPr>
              <a:t>Kradolfer U. SalanderMaps: A rapid overview about felt earthquakes through data mining of web-accesses; Proceedings of the EGU General Assembly Conference; Vienna, Austria. 7–12 April 2013; pp. EGU2013–6400. [Google Scholar]</a:t>
            </a:r>
            <a:endParaRPr lang="en-US" altLang="en-US" sz="1800">
              <a:latin typeface="Calibri" panose="020F0502020204030204"/>
              <a:cs typeface="Calibri" panose="020F0502020204030204"/>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marL="80010">
              <a:lnSpc>
                <a:spcPct val="100000"/>
              </a:lnSpc>
              <a:spcBef>
                <a:spcPts val="105"/>
              </a:spcBef>
            </a:pPr>
            <a:r>
              <a:rPr spc="-10" dirty="0"/>
              <a:t>REFERENCES</a:t>
            </a:r>
            <a:endParaRPr spc="-10" dirty="0"/>
          </a:p>
        </p:txBody>
      </p:sp>
      <p:sp>
        <p:nvSpPr>
          <p:cNvPr id="3" name="object 3"/>
          <p:cNvSpPr txBox="1"/>
          <p:nvPr/>
        </p:nvSpPr>
        <p:spPr>
          <a:xfrm>
            <a:off x="762000" y="1219200"/>
            <a:ext cx="10422255" cy="3967480"/>
          </a:xfrm>
          <a:prstGeom prst="rect">
            <a:avLst/>
          </a:prstGeom>
        </p:spPr>
        <p:txBody>
          <a:bodyPr vert="horz" wrap="square" lIns="0" tIns="12700" rIns="0" bIns="0" rtlCol="0">
            <a:spAutoFit/>
          </a:bodyPr>
          <a:lstStyle/>
          <a:p>
            <a:pPr marL="185420" indent="-176530">
              <a:lnSpc>
                <a:spcPct val="100000"/>
              </a:lnSpc>
              <a:spcBef>
                <a:spcPts val="100"/>
              </a:spcBef>
              <a:buSzPct val="94000"/>
              <a:buAutoNum type="arabicPeriod" startAt="5"/>
              <a:tabLst>
                <a:tab pos="185420" algn="l"/>
              </a:tabLst>
            </a:pPr>
            <a:r>
              <a:rPr lang="en-US" altLang="en-US" sz="1800">
                <a:latin typeface="Calibri" panose="020F0502020204030204"/>
                <a:cs typeface="Calibri" panose="020F0502020204030204"/>
              </a:rPr>
              <a:t>Merz B., Kreibich H., Lall U. Multi-variate flood damage assessment: A tree-based data-mining approach. Nat. Hazards Earth Syst. Sci. 2013;13:53–64. doi: 10.5194/nhess-13-53-2013. [CrossRef] [Google Scholar]</a:t>
            </a:r>
            <a:endParaRPr lang="en-US" altLang="en-US" sz="1800">
              <a:latin typeface="Calibri" panose="020F0502020204030204"/>
              <a:cs typeface="Calibri" panose="020F0502020204030204"/>
            </a:endParaRPr>
          </a:p>
          <a:p>
            <a:pPr marL="185420" indent="-176530">
              <a:lnSpc>
                <a:spcPct val="100000"/>
              </a:lnSpc>
              <a:spcBef>
                <a:spcPts val="100"/>
              </a:spcBef>
              <a:buSzPct val="94000"/>
              <a:buAutoNum type="arabicPeriod" startAt="5"/>
              <a:tabLst>
                <a:tab pos="185420" algn="l"/>
              </a:tabLst>
            </a:pPr>
            <a:endParaRPr lang="en-US" altLang="en-US" sz="1800">
              <a:latin typeface="Calibri" panose="020F0502020204030204"/>
              <a:cs typeface="Calibri" panose="020F0502020204030204"/>
            </a:endParaRPr>
          </a:p>
          <a:p>
            <a:pPr marL="185420" indent="-176530">
              <a:lnSpc>
                <a:spcPct val="100000"/>
              </a:lnSpc>
              <a:spcBef>
                <a:spcPts val="100"/>
              </a:spcBef>
              <a:buSzPct val="94000"/>
              <a:buAutoNum type="arabicPeriod" startAt="5"/>
              <a:tabLst>
                <a:tab pos="185420" algn="l"/>
              </a:tabLst>
            </a:pPr>
            <a:r>
              <a:rPr lang="en-US" altLang="en-US" sz="1800">
                <a:latin typeface="Calibri" panose="020F0502020204030204"/>
                <a:cs typeface="Calibri" panose="020F0502020204030204"/>
              </a:rPr>
              <a:t>Sahay R.R., Srivastava A. Predicting monsoon floods in rivers embedding wavelet transform, genetic algorithm and neural network. Water Resour. Manag. 2014;28:301–317. doi: 10.1007/s11269-013-0446-5. [CrossRef] [Google Scholar]</a:t>
            </a:r>
            <a:endParaRPr lang="en-US" altLang="en-US" sz="1800">
              <a:latin typeface="Calibri" panose="020F0502020204030204"/>
              <a:cs typeface="Calibri" panose="020F0502020204030204"/>
            </a:endParaRPr>
          </a:p>
          <a:p>
            <a:pPr marL="185420" indent="-176530">
              <a:lnSpc>
                <a:spcPct val="100000"/>
              </a:lnSpc>
              <a:spcBef>
                <a:spcPts val="100"/>
              </a:spcBef>
              <a:buSzPct val="94000"/>
              <a:buAutoNum type="arabicPeriod" startAt="5"/>
              <a:tabLst>
                <a:tab pos="185420" algn="l"/>
              </a:tabLst>
            </a:pPr>
            <a:endParaRPr lang="en-US" altLang="en-US" sz="1800">
              <a:latin typeface="Calibri" panose="020F0502020204030204"/>
              <a:cs typeface="Calibri" panose="020F0502020204030204"/>
            </a:endParaRPr>
          </a:p>
          <a:p>
            <a:pPr marL="185420" indent="-176530">
              <a:lnSpc>
                <a:spcPct val="100000"/>
              </a:lnSpc>
              <a:spcBef>
                <a:spcPts val="100"/>
              </a:spcBef>
              <a:buSzPct val="94000"/>
              <a:buAutoNum type="arabicPeriod" startAt="5"/>
              <a:tabLst>
                <a:tab pos="185420" algn="l"/>
              </a:tabLst>
            </a:pPr>
            <a:r>
              <a:rPr lang="en-US" altLang="en-US" sz="1800">
                <a:latin typeface="Calibri" panose="020F0502020204030204"/>
                <a:cs typeface="Calibri" panose="020F0502020204030204"/>
              </a:rPr>
              <a:t>Venkatesan M., Thangavelu A., Prabhavathy P. An improved Bayesian classification data mining method for early warning landslide susceptibility model using GIS; Proceedings of the Seventh International Conference on Bio-Inspired Computing: Theories and Applications (BIC-TA 2012); Springer, Gwalior, India. 12–16 December 2012; pp. 277–288. [Google Scholar]</a:t>
            </a:r>
            <a:endParaRPr lang="en-US" altLang="en-US" sz="1800">
              <a:latin typeface="Calibri" panose="020F0502020204030204"/>
              <a:cs typeface="Calibri" panose="020F0502020204030204"/>
            </a:endParaRPr>
          </a:p>
          <a:p>
            <a:pPr marL="185420" indent="-176530">
              <a:lnSpc>
                <a:spcPct val="100000"/>
              </a:lnSpc>
              <a:spcBef>
                <a:spcPts val="100"/>
              </a:spcBef>
              <a:buSzPct val="94000"/>
              <a:buAutoNum type="arabicPeriod" startAt="5"/>
              <a:tabLst>
                <a:tab pos="185420" algn="l"/>
              </a:tabLst>
            </a:pPr>
            <a:endParaRPr lang="en-US" altLang="en-US" sz="1800">
              <a:latin typeface="Calibri" panose="020F0502020204030204"/>
              <a:cs typeface="Calibri" panose="020F0502020204030204"/>
            </a:endParaRPr>
          </a:p>
          <a:p>
            <a:pPr marL="185420" indent="-176530">
              <a:lnSpc>
                <a:spcPct val="100000"/>
              </a:lnSpc>
              <a:spcBef>
                <a:spcPts val="100"/>
              </a:spcBef>
              <a:buSzPct val="94000"/>
              <a:buAutoNum type="arabicPeriod" startAt="5"/>
              <a:tabLst>
                <a:tab pos="185420" algn="l"/>
              </a:tabLst>
            </a:pPr>
            <a:r>
              <a:rPr lang="en-US" altLang="en-US" sz="1800">
                <a:latin typeface="Calibri" panose="020F0502020204030204"/>
                <a:cs typeface="Calibri" panose="020F0502020204030204"/>
              </a:rPr>
              <a:t>Korup O., Stolle A. Landslide prediction from machine learning. Geol. Today. 2014;30:26–33. doi: 10.1111/gto.12034. [CrossRef] [Google Scholar]</a:t>
            </a:r>
            <a:endParaRPr lang="en-US" altLang="en-US" sz="1800">
              <a:latin typeface="Calibri" panose="020F0502020204030204"/>
              <a:cs typeface="Calibri" panose="020F0502020204030204"/>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marL="80010">
              <a:lnSpc>
                <a:spcPct val="100000"/>
              </a:lnSpc>
              <a:spcBef>
                <a:spcPts val="105"/>
              </a:spcBef>
            </a:pPr>
            <a:r>
              <a:rPr dirty="0"/>
              <a:t>PUBLICATION</a:t>
            </a:r>
            <a:r>
              <a:rPr spc="-114" dirty="0"/>
              <a:t> </a:t>
            </a:r>
            <a:r>
              <a:rPr spc="-10" dirty="0"/>
              <a:t>DETAILS</a:t>
            </a:r>
            <a:endParaRPr spc="-10" dirty="0"/>
          </a:p>
        </p:txBody>
      </p:sp>
      <p:sp>
        <p:nvSpPr>
          <p:cNvPr id="4" name="Content Placeholder 3"/>
          <p:cNvSpPr>
            <a:spLocks noGrp="1"/>
          </p:cNvSpPr>
          <p:nvPr>
            <p:ph sz="half" idx="3"/>
          </p:nvPr>
        </p:nvSpPr>
        <p:spPr/>
        <p:txBody>
          <a:bodyPr/>
          <a:p>
            <a:endParaRPr lang="en-US"/>
          </a:p>
        </p:txBody>
      </p:sp>
      <p:pic>
        <p:nvPicPr>
          <p:cNvPr id="3" name="Content Placeholder 2" descr="zjdb"/>
          <p:cNvPicPr>
            <a:picLocks noChangeAspect="1"/>
          </p:cNvPicPr>
          <p:nvPr>
            <p:ph sz="half" idx="2"/>
          </p:nvPr>
        </p:nvPicPr>
        <p:blipFill>
          <a:blip r:embed="rId1"/>
          <a:stretch>
            <a:fillRect/>
          </a:stretch>
        </p:blipFill>
        <p:spPr>
          <a:xfrm>
            <a:off x="3962400" y="1066800"/>
            <a:ext cx="3214370" cy="452628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936234" y="1814448"/>
            <a:ext cx="5089525" cy="1488440"/>
          </a:xfrm>
          <a:prstGeom prst="rect">
            <a:avLst/>
          </a:prstGeom>
        </p:spPr>
        <p:txBody>
          <a:bodyPr vert="horz" wrap="square" lIns="0" tIns="12700" rIns="0" bIns="0" rtlCol="0">
            <a:spAutoFit/>
          </a:bodyPr>
          <a:lstStyle/>
          <a:p>
            <a:pPr marL="12700">
              <a:lnSpc>
                <a:spcPct val="100000"/>
              </a:lnSpc>
              <a:spcBef>
                <a:spcPts val="100"/>
              </a:spcBef>
            </a:pPr>
            <a:r>
              <a:rPr sz="9600" b="0" dirty="0">
                <a:latin typeface="Calibri" panose="020F0502020204030204"/>
                <a:cs typeface="Calibri" panose="020F0502020204030204"/>
              </a:rPr>
              <a:t>Thank</a:t>
            </a:r>
            <a:r>
              <a:rPr sz="9600" b="0" spc="-160" dirty="0">
                <a:latin typeface="Calibri" panose="020F0502020204030204"/>
                <a:cs typeface="Calibri" panose="020F0502020204030204"/>
              </a:rPr>
              <a:t> </a:t>
            </a:r>
            <a:r>
              <a:rPr sz="9600" b="0" spc="-855" dirty="0">
                <a:latin typeface="Calibri" panose="020F0502020204030204"/>
                <a:cs typeface="Calibri" panose="020F0502020204030204"/>
              </a:rPr>
              <a:t>Y</a:t>
            </a:r>
            <a:r>
              <a:rPr sz="9600" b="0" spc="-45" dirty="0">
                <a:latin typeface="Calibri" panose="020F0502020204030204"/>
                <a:cs typeface="Calibri" panose="020F0502020204030204"/>
              </a:rPr>
              <a:t>ou</a:t>
            </a:r>
            <a:endParaRPr sz="9600">
              <a:latin typeface="Calibri" panose="020F0502020204030204"/>
              <a:cs typeface="Calibri" panose="020F0502020204030204"/>
            </a:endParaRPr>
          </a:p>
        </p:txBody>
      </p:sp>
      <p:pic>
        <p:nvPicPr>
          <p:cNvPr id="3" name="object 3"/>
          <p:cNvPicPr/>
          <p:nvPr/>
        </p:nvPicPr>
        <p:blipFill>
          <a:blip r:embed="rId1" cstate="print"/>
          <a:stretch>
            <a:fillRect/>
          </a:stretch>
        </p:blipFill>
        <p:spPr>
          <a:xfrm>
            <a:off x="694944" y="1028700"/>
            <a:ext cx="4459224" cy="385724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17838</Words>
  <Application>WPS Presentation</Application>
  <PresentationFormat>On-screen Show (4:3)</PresentationFormat>
  <Paragraphs>217</Paragraphs>
  <Slides>26</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26</vt:i4>
      </vt:variant>
    </vt:vector>
  </HeadingPairs>
  <TitlesOfParts>
    <vt:vector size="37" baseType="lpstr">
      <vt:lpstr>Arial</vt:lpstr>
      <vt:lpstr>SimSun</vt:lpstr>
      <vt:lpstr>Wingdings</vt:lpstr>
      <vt:lpstr>Calibri Light</vt:lpstr>
      <vt:lpstr>Calibri</vt:lpstr>
      <vt:lpstr>Verdana</vt:lpstr>
      <vt:lpstr>Cambria</vt:lpstr>
      <vt:lpstr>Georgia</vt:lpstr>
      <vt:lpstr>Microsoft YaHei</vt:lpstr>
      <vt:lpstr>Arial Unicode MS</vt:lpstr>
      <vt:lpstr>Office Theme</vt:lpstr>
      <vt:lpstr>PIP104 PROFESSIONAL PRACTICE-II</vt:lpstr>
      <vt:lpstr>ABSTRACT</vt:lpstr>
      <vt:lpstr>PowerPoint 演示文稿</vt:lpstr>
      <vt:lpstr>INTRODUCTION</vt:lpstr>
      <vt:lpstr>PowerPoint 演示文稿</vt:lpstr>
      <vt:lpstr>INTRODUCTION</vt:lpstr>
      <vt:lpstr>LITERATURE REVIEW</vt:lpstr>
      <vt:lpstr>LITERATURE REVIEW</vt:lpstr>
      <vt:lpstr>PowerPoint 演示文稿</vt:lpstr>
      <vt:lpstr>  The research gap in natural disasters lies in the inadequate understanding of the long-term socio-economic impacts on communities that are susceptible to these calamities. Whereas various studies focus on immediate response and recovery, there is a shortage of research examining the long-term consequences on societies, particularly in developing regions.   The complex interaction of pre-existing vulnerabilities, post-disaster adaptive capacities, and the chronic challenges faced by affected populations in their struggle to rebuild their lives has not received sufficient attention. Furthermore, there is a serious lack of an integrated approach, drawing on environmental science, social dynamics, and policy analysis in putting together comprehensive strategies for mitigating the long-term effects of natural disasters.   Contributing to this prevailing research gap allows enhanced effectiveness of preparatory, responsive, and recovery strategies-thereby enhanced levels of resilience when facing an increased climatic uncertain future.</vt:lpstr>
      <vt:lpstr>PROPOSED METHODOLOGY</vt:lpstr>
      <vt:lpstr>PROPOSED METHODOLOGY</vt:lpstr>
      <vt:lpstr>PROPOSED METHODOLOGY</vt:lpstr>
      <vt:lpstr>OBJECTIVES</vt:lpstr>
      <vt:lpstr>SYSTEM DESIGN AND IMPLEMENTATION</vt:lpstr>
      <vt:lpstr>SYSTEM DESIGN AND IMPLEMENTATION</vt:lpstr>
      <vt:lpstr>TIMELINE FOR THE PROJECT</vt:lpstr>
      <vt:lpstr>PowerPoint 演示文稿</vt:lpstr>
      <vt:lpstr>OUTCOMES/RESULTS OBTAINED</vt:lpstr>
      <vt:lpstr>PowerPoint 演示文稿</vt:lpstr>
      <vt:lpstr>CONCLUSION</vt:lpstr>
      <vt:lpstr>PowerPoint 演示文稿</vt:lpstr>
      <vt:lpstr>REFERENCES</vt:lpstr>
      <vt:lpstr>REFERENCES</vt:lpstr>
      <vt:lpstr>PUBLICATION DETAILS</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PIP104 PROFESSIONAL PRACTICE-II</dc:title>
  <dc:creator/>
  <cp:lastModifiedBy>Shashank Jk</cp:lastModifiedBy>
  <cp:revision>3</cp:revision>
  <dcterms:created xsi:type="dcterms:W3CDTF">2025-01-15T07:35:00Z</dcterms:created>
  <dcterms:modified xsi:type="dcterms:W3CDTF">2025-01-16T06:17:22Z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2025-01-11T11:00:00Z</vt:filetime>
  </property>
  <property fmtid="{D5CDD505-2E9C-101B-9397-08002B2CF9AE}" pid="3" name="Creator">
    <vt:lpwstr>WPS Presentation</vt:lpwstr>
  </property>
  <property fmtid="{D5CDD505-2E9C-101B-9397-08002B2CF9AE}" pid="4" name="LastSaved">
    <vt:filetime>2025-01-14T11:00:00Z</vt:filetime>
  </property>
  <property fmtid="{D5CDD505-2E9C-101B-9397-08002B2CF9AE}" pid="5" name="SourceModified">
    <vt:lpwstr>D:20250111194904+05'30'</vt:lpwstr>
  </property>
  <property fmtid="{D5CDD505-2E9C-101B-9397-08002B2CF9AE}" pid="6" name="ICV">
    <vt:lpwstr>8E62F4BC99BE4E06B9706E75E6EB67B4_12</vt:lpwstr>
  </property>
  <property fmtid="{D5CDD505-2E9C-101B-9397-08002B2CF9AE}" pid="7" name="KSOProductBuildVer">
    <vt:lpwstr>1033-12.2.0.19805</vt:lpwstr>
  </property>
</Properties>
</file>